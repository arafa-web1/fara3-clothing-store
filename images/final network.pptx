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2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6858000" cy="9144000"/>
  <p:embeddedFontLst>
    <p:embeddedFont>
      <p:font typeface="Fira Sans Bold" panose="020B0803050000020004"/>
      <p:bold r:id="rId30"/>
    </p:embeddedFont>
    <p:embeddedFont>
      <p:font typeface="Fira Sans Light" panose="020B0403050000020004"/>
      <p:regular r:id="rId31"/>
    </p:embeddedFont>
    <p:embeddedFont>
      <p:font typeface="Fira Sans" panose="020B0503050000020004"/>
      <p:regular r:id="rId32"/>
    </p:embeddedFont>
    <p:embeddedFont>
      <p:font typeface="Gilda Display" panose="02000000000000000000"/>
      <p:regular r:id="rId33"/>
    </p:embeddedFont>
    <p:embeddedFont>
      <p:font typeface="Calibri" panose="020F0502020204030204" charset="0"/>
      <p:regular r:id="rId34"/>
      <p:bold r:id="rId35"/>
      <p:italic r:id="rId36"/>
      <p:boldItalic r:id="rId37"/>
    </p:embeddedFont>
    <p:embeddedFont>
      <p:font typeface="ITC Motter Corpus Semicondensed" panose="04020A05040802020202"/>
      <p:bold r:id="rId38"/>
    </p:embeddedFont>
    <p:embeddedFont>
      <p:font typeface="Rubik"/>
      <p:regular r:id="rId39"/>
    </p:embeddedFont>
    <p:embeddedFont>
      <p:font typeface="Rubik Bold" panose="00000800000000000000"/>
      <p:bold r:id="rId40"/>
    </p:embeddedFont>
    <p:embeddedFont>
      <p:font typeface="Canva Sans Italics" panose="020B0503030501040103"/>
      <p:italic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font" Target="fonts/font12.fntdata"/><Relationship Id="rId40" Type="http://schemas.openxmlformats.org/officeDocument/2006/relationships/font" Target="fonts/font11.fntdata"/><Relationship Id="rId4" Type="http://schemas.openxmlformats.org/officeDocument/2006/relationships/slide" Target="slides/slide2.xml"/><Relationship Id="rId39" Type="http://schemas.openxmlformats.org/officeDocument/2006/relationships/font" Target="fonts/font10.fntdata"/><Relationship Id="rId38" Type="http://schemas.openxmlformats.org/officeDocument/2006/relationships/font" Target="fonts/font9.fntdata"/><Relationship Id="rId37" Type="http://schemas.openxmlformats.org/officeDocument/2006/relationships/font" Target="fonts/font8.fntdata"/><Relationship Id="rId36" Type="http://schemas.openxmlformats.org/officeDocument/2006/relationships/font" Target="fonts/font7.fntdata"/><Relationship Id="rId35" Type="http://schemas.openxmlformats.org/officeDocument/2006/relationships/font" Target="fonts/font6.fntdata"/><Relationship Id="rId34" Type="http://schemas.openxmlformats.org/officeDocument/2006/relationships/font" Target="fonts/font5.fntdata"/><Relationship Id="rId33" Type="http://schemas.openxmlformats.org/officeDocument/2006/relationships/font" Target="fonts/font4.fntdata"/><Relationship Id="rId32" Type="http://schemas.openxmlformats.org/officeDocument/2006/relationships/font" Target="fonts/font3.fntdata"/><Relationship Id="rId31" Type="http://schemas.openxmlformats.org/officeDocument/2006/relationships/font" Target="fonts/font2.fntdata"/><Relationship Id="rId30" Type="http://schemas.openxmlformats.org/officeDocument/2006/relationships/font" Target="fonts/font1.fntdata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73691" y="1028700"/>
            <a:ext cx="12955019" cy="7360053"/>
            <a:chOff x="0" y="0"/>
            <a:chExt cx="17273358" cy="9813404"/>
          </a:xfrm>
        </p:grpSpPr>
        <p:sp>
          <p:nvSpPr>
            <p:cNvPr id="3" name="TextBox 3"/>
            <p:cNvSpPr txBox="1"/>
            <p:nvPr/>
          </p:nvSpPr>
          <p:spPr>
            <a:xfrm>
              <a:off x="0" y="3747101"/>
              <a:ext cx="16945067" cy="6066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00"/>
                </a:lnSpc>
              </a:pPr>
              <a:r>
                <a:rPr lang="en-US" sz="2430">
                  <a:solidFill>
                    <a:srgbClr val="E0D4C3"/>
                  </a:solidFill>
                  <a:latin typeface="Fira Sans Light" panose="020B0403050000020004"/>
                  <a:ea typeface="Fira Sans Light" panose="020B0403050000020004"/>
                  <a:cs typeface="Fira Sans Light" panose="020B0403050000020004"/>
                  <a:sym typeface="Fira Sans Light" panose="020B0403050000020004"/>
                </a:rPr>
                <a:t>Meet 𝐹𝒶𝓇𝒶`𝟥, your digital gateway to authentic Egyptian streetwear fashion! This sleek online shopping platform marries cutting-edge web wizardry with the vibrant flair of local designs, ensuring your shopping spree is as smooth and stylish as your new threads.</a:t>
              </a:r>
              <a:endParaRPr lang="en-US" sz="2430">
                <a:solidFill>
                  <a:srgbClr val="E0D4C3"/>
                </a:solidFill>
                <a:latin typeface="Fira Sans Light" panose="020B0403050000020004"/>
                <a:ea typeface="Fira Sans Light" panose="020B0403050000020004"/>
                <a:cs typeface="Fira Sans Light" panose="020B0403050000020004"/>
                <a:sym typeface="Fira Sans Light" panose="020B0403050000020004"/>
              </a:endParaRPr>
            </a:p>
            <a:p>
              <a:pPr marL="0" lvl="0" indent="0" algn="l">
                <a:lnSpc>
                  <a:spcPts val="3400"/>
                </a:lnSpc>
              </a:pPr>
            </a:p>
            <a:p>
              <a:pPr marL="582930" lvl="1" indent="-291465" algn="just">
                <a:lnSpc>
                  <a:spcPts val="3780"/>
                </a:lnSpc>
                <a:buFont typeface="Arial" panose="020B0604020202020204"/>
                <a:buChar char="•"/>
              </a:pPr>
              <a:r>
                <a:rPr lang="en-US" sz="2700">
                  <a:solidFill>
                    <a:srgbClr val="E0D4C3"/>
                  </a:solidFill>
                  <a:latin typeface="Fira Sans Light" panose="020B0403050000020004"/>
                  <a:ea typeface="Fira Sans Light" panose="020B0403050000020004"/>
                  <a:cs typeface="Fira Sans Light" panose="020B0403050000020004"/>
                  <a:sym typeface="Fira Sans Light" panose="020B0403050000020004"/>
                </a:rPr>
                <a:t>Browse curated streetwear collections</a:t>
              </a:r>
              <a:endParaRPr lang="en-US" sz="2700">
                <a:solidFill>
                  <a:srgbClr val="E0D4C3"/>
                </a:solidFill>
                <a:latin typeface="Fira Sans Light" panose="020B0403050000020004"/>
                <a:ea typeface="Fira Sans Light" panose="020B0403050000020004"/>
                <a:cs typeface="Fira Sans Light" panose="020B0403050000020004"/>
                <a:sym typeface="Fira Sans Light" panose="020B0403050000020004"/>
              </a:endParaRPr>
            </a:p>
            <a:p>
              <a:pPr marL="582930" lvl="1" indent="-291465" algn="just">
                <a:lnSpc>
                  <a:spcPts val="3780"/>
                </a:lnSpc>
                <a:buFont typeface="Arial" panose="020B0604020202020204"/>
                <a:buChar char="•"/>
              </a:pPr>
              <a:r>
                <a:rPr lang="en-US" sz="2700">
                  <a:solidFill>
                    <a:srgbClr val="E0D4C3"/>
                  </a:solidFill>
                  <a:latin typeface="Fira Sans Light" panose="020B0403050000020004"/>
                  <a:ea typeface="Fira Sans Light" panose="020B0403050000020004"/>
                  <a:cs typeface="Fira Sans Light" panose="020B0403050000020004"/>
                  <a:sym typeface="Fira Sans Light" panose="020B0403050000020004"/>
                </a:rPr>
                <a:t>Create accounts and manage profiles</a:t>
              </a:r>
              <a:endParaRPr lang="en-US" sz="2700">
                <a:solidFill>
                  <a:srgbClr val="E0D4C3"/>
                </a:solidFill>
                <a:latin typeface="Fira Sans Light" panose="020B0403050000020004"/>
                <a:ea typeface="Fira Sans Light" panose="020B0403050000020004"/>
                <a:cs typeface="Fira Sans Light" panose="020B0403050000020004"/>
                <a:sym typeface="Fira Sans Light" panose="020B0403050000020004"/>
              </a:endParaRPr>
            </a:p>
            <a:p>
              <a:pPr marL="582930" lvl="1" indent="-291465" algn="just">
                <a:lnSpc>
                  <a:spcPts val="3780"/>
                </a:lnSpc>
                <a:buFont typeface="Arial" panose="020B0604020202020204"/>
                <a:buChar char="•"/>
              </a:pPr>
              <a:r>
                <a:rPr lang="en-US" sz="2700">
                  <a:solidFill>
                    <a:srgbClr val="E0D4C3"/>
                  </a:solidFill>
                  <a:latin typeface="Fira Sans Light" panose="020B0403050000020004"/>
                  <a:ea typeface="Fira Sans Light" panose="020B0403050000020004"/>
                  <a:cs typeface="Fira Sans Light" panose="020B0403050000020004"/>
                  <a:sym typeface="Fira Sans Light" panose="020B0403050000020004"/>
                </a:rPr>
                <a:t>Add items to a shopping cart</a:t>
              </a:r>
              <a:endParaRPr lang="en-US" sz="2700">
                <a:solidFill>
                  <a:srgbClr val="E0D4C3"/>
                </a:solidFill>
                <a:latin typeface="Fira Sans Light" panose="020B0403050000020004"/>
                <a:ea typeface="Fira Sans Light" panose="020B0403050000020004"/>
                <a:cs typeface="Fira Sans Light" panose="020B0403050000020004"/>
                <a:sym typeface="Fira Sans Light" panose="020B0403050000020004"/>
              </a:endParaRPr>
            </a:p>
            <a:p>
              <a:pPr marL="582930" lvl="1" indent="-291465" algn="just">
                <a:lnSpc>
                  <a:spcPts val="3780"/>
                </a:lnSpc>
                <a:buFont typeface="Arial" panose="020B0604020202020204"/>
                <a:buChar char="•"/>
              </a:pPr>
              <a:r>
                <a:rPr lang="en-US" sz="2700">
                  <a:solidFill>
                    <a:srgbClr val="E0D4C3"/>
                  </a:solidFill>
                  <a:latin typeface="Fira Sans Light" panose="020B0403050000020004"/>
                  <a:ea typeface="Fira Sans Light" panose="020B0403050000020004"/>
                  <a:cs typeface="Fira Sans Light" panose="020B0403050000020004"/>
                  <a:sym typeface="Fira Sans Light" panose="020B0403050000020004"/>
                </a:rPr>
                <a:t>Complete purchases securely</a:t>
              </a:r>
              <a:endParaRPr lang="en-US" sz="2700">
                <a:solidFill>
                  <a:srgbClr val="E0D4C3"/>
                </a:solidFill>
                <a:latin typeface="Fira Sans Light" panose="020B0403050000020004"/>
                <a:ea typeface="Fira Sans Light" panose="020B0403050000020004"/>
                <a:cs typeface="Fira Sans Light" panose="020B0403050000020004"/>
                <a:sym typeface="Fira Sans Light" panose="020B0403050000020004"/>
              </a:endParaRPr>
            </a:p>
            <a:p>
              <a:pPr marL="582930" lvl="1" indent="-291465" algn="just">
                <a:lnSpc>
                  <a:spcPts val="3780"/>
                </a:lnSpc>
                <a:buFont typeface="Arial" panose="020B0604020202020204"/>
                <a:buChar char="•"/>
              </a:pPr>
              <a:r>
                <a:rPr lang="en-US" sz="2700">
                  <a:solidFill>
                    <a:srgbClr val="E0D4C3"/>
                  </a:solidFill>
                  <a:latin typeface="Fira Sans Light" panose="020B0403050000020004"/>
                  <a:ea typeface="Fira Sans Light" panose="020B0403050000020004"/>
                  <a:cs typeface="Fira Sans Light" panose="020B0403050000020004"/>
                  <a:sym typeface="Fira Sans Light" panose="020B0403050000020004"/>
                </a:rPr>
                <a:t>View their order history</a:t>
              </a:r>
              <a:endParaRPr lang="en-US" sz="2700">
                <a:solidFill>
                  <a:srgbClr val="E0D4C3"/>
                </a:solidFill>
                <a:latin typeface="Fira Sans Light" panose="020B0403050000020004"/>
                <a:ea typeface="Fira Sans Light" panose="020B0403050000020004"/>
                <a:cs typeface="Fira Sans Light" panose="020B0403050000020004"/>
                <a:sym typeface="Fira Sans Light" panose="020B0403050000020004"/>
              </a:endParaRPr>
            </a:p>
            <a:p>
              <a:pPr marL="0" lvl="0" indent="0" algn="l">
                <a:lnSpc>
                  <a:spcPts val="3780"/>
                </a:lnSpc>
              </a:p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17273358" cy="18371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175"/>
                </a:lnSpc>
                <a:spcBef>
                  <a:spcPct val="0"/>
                </a:spcBef>
              </a:pPr>
              <a:r>
                <a:rPr lang="en-US" sz="9250">
                  <a:solidFill>
                    <a:srgbClr val="E0D4C3"/>
                  </a:solidFill>
                  <a:latin typeface="Helios Extended" panose="02000505040000020004"/>
                  <a:ea typeface="Helios Extended" panose="02000505040000020004"/>
                  <a:cs typeface="Helios Extended" panose="02000505040000020004"/>
                  <a:sym typeface="Helios Extended" panose="02000505040000020004"/>
                </a:rPr>
                <a:t>𝐹𝒶𝓇𝒶`𝟥 Overview</a:t>
              </a:r>
              <a:endParaRPr lang="en-US" sz="9250">
                <a:solidFill>
                  <a:srgbClr val="E0D4C3"/>
                </a:solidFill>
                <a:latin typeface="Helios Extended" panose="02000505040000020004"/>
                <a:ea typeface="Helios Extended" panose="02000505040000020004"/>
                <a:cs typeface="Helios Extended" panose="02000505040000020004"/>
                <a:sym typeface="Helios Extended" panose="020005050400000200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8396" y="2356883"/>
              <a:ext cx="15027039" cy="6698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10"/>
                </a:lnSpc>
              </a:pPr>
              <a:r>
                <a:rPr lang="en-US" sz="3005">
                  <a:solidFill>
                    <a:srgbClr val="E0D4C3"/>
                  </a:solidFill>
                  <a:latin typeface="Fira Sans" panose="020B0503050000020004"/>
                  <a:ea typeface="Fira Sans" panose="020B0503050000020004"/>
                  <a:cs typeface="Fira Sans" panose="020B0503050000020004"/>
                  <a:sym typeface="Fira Sans" panose="020B0503050000020004"/>
                </a:rPr>
                <a:t>DISCOVER THE FUTURE OF EGYPTIAN STREETWEAR</a:t>
              </a:r>
              <a:endParaRPr lang="en-US" sz="3005">
                <a:solidFill>
                  <a:srgbClr val="E0D4C3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9068162" y="1029062"/>
            <a:ext cx="189775" cy="18326100"/>
            <a:chOff x="0" y="0"/>
            <a:chExt cx="49982" cy="48266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982" cy="4826627"/>
            </a:xfrm>
            <a:custGeom>
              <a:avLst/>
              <a:gdLst/>
              <a:ahLst/>
              <a:cxnLst/>
              <a:rect l="l" t="t" r="r" b="b"/>
              <a:pathLst>
                <a:path w="49982" h="4826627">
                  <a:moveTo>
                    <a:pt x="0" y="0"/>
                  </a:moveTo>
                  <a:lnTo>
                    <a:pt x="49982" y="0"/>
                  </a:lnTo>
                  <a:lnTo>
                    <a:pt x="49982" y="4826627"/>
                  </a:lnTo>
                  <a:lnTo>
                    <a:pt x="0" y="4826627"/>
                  </a:lnTo>
                  <a:close/>
                </a:path>
              </a:pathLst>
            </a:custGeom>
            <a:solidFill>
              <a:srgbClr val="E0D4C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9982" cy="4874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508875" y="150218"/>
            <a:ext cx="12708800" cy="9237660"/>
            <a:chOff x="0" y="0"/>
            <a:chExt cx="16945067" cy="12316880"/>
          </a:xfrm>
        </p:grpSpPr>
        <p:sp>
          <p:nvSpPr>
            <p:cNvPr id="3" name="TextBox 3"/>
            <p:cNvSpPr txBox="1"/>
            <p:nvPr/>
          </p:nvSpPr>
          <p:spPr>
            <a:xfrm>
              <a:off x="0" y="11770484"/>
              <a:ext cx="16945067" cy="5463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00"/>
                </a:lnSpc>
              </a:p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15055435" cy="46015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870"/>
                </a:lnSpc>
              </a:pPr>
            </a:p>
            <a:p>
              <a:pPr marL="0" lvl="0" indent="0" algn="l">
                <a:lnSpc>
                  <a:spcPts val="8870"/>
                </a:lnSpc>
                <a:spcBef>
                  <a:spcPct val="0"/>
                </a:spcBef>
              </a:pPr>
              <a:r>
                <a:rPr lang="en-US" sz="8065">
                  <a:solidFill>
                    <a:srgbClr val="E0D4C3"/>
                  </a:solidFill>
                  <a:latin typeface="Helios Extended" panose="02000505040000020004"/>
                  <a:ea typeface="Helios Extended" panose="02000505040000020004"/>
                  <a:cs typeface="Helios Extended" panose="02000505040000020004"/>
                  <a:sym typeface="Helios Extended" panose="02000505040000020004"/>
                </a:rPr>
                <a:t>Problem</a:t>
              </a:r>
              <a:r>
                <a:rPr lang="en-US" sz="8065">
                  <a:solidFill>
                    <a:srgbClr val="E0D4C3"/>
                  </a:solidFill>
                  <a:latin typeface="Helios Extended" panose="02000505040000020004"/>
                  <a:ea typeface="Helios Extended" panose="02000505040000020004"/>
                  <a:cs typeface="Helios Extended" panose="02000505040000020004"/>
                  <a:sym typeface="Helios Extended" panose="02000505040000020004"/>
                </a:rPr>
                <a:t> Statement</a:t>
              </a:r>
              <a:endParaRPr lang="en-US" sz="8065">
                <a:solidFill>
                  <a:srgbClr val="E0D4C3"/>
                </a:solidFill>
                <a:latin typeface="Helios Extended" panose="02000505040000020004"/>
                <a:ea typeface="Helios Extended" panose="02000505040000020004"/>
                <a:cs typeface="Helios Extended" panose="02000505040000020004"/>
                <a:sym typeface="Helios Extended" panose="02000505040000020004"/>
              </a:endParaRPr>
            </a:p>
            <a:p>
              <a:pPr marL="0" lvl="0" indent="0" algn="l">
                <a:lnSpc>
                  <a:spcPts val="8870"/>
                </a:lnSpc>
                <a:spcBef>
                  <a:spcPct val="0"/>
                </a:spcBef>
              </a:p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8396" y="5111829"/>
              <a:ext cx="15484847" cy="59383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</a:p>
            <a:p>
              <a:pPr marL="0" lvl="0" indent="0" algn="l">
                <a:lnSpc>
                  <a:spcPts val="4200"/>
                </a:lnSpc>
              </a:pPr>
              <a:r>
                <a:rPr lang="en-US" sz="3000" b="1">
                  <a:solidFill>
                    <a:srgbClr val="E0D4C3"/>
                  </a:solidFill>
                  <a:latin typeface="Fira Sans Bold" panose="020B0803050000020004"/>
                  <a:ea typeface="Fira Sans Bold" panose="020B0803050000020004"/>
                  <a:cs typeface="Fira Sans Bold" panose="020B0803050000020004"/>
                  <a:sym typeface="Fira Sans Bold" panose="020B0803050000020004"/>
                </a:rPr>
                <a:t>The Egypt</a:t>
              </a:r>
              <a:r>
                <a:rPr lang="en-US" sz="3000" b="1">
                  <a:solidFill>
                    <a:srgbClr val="E0D4C3"/>
                  </a:solidFill>
                  <a:latin typeface="Fira Sans Bold" panose="020B0803050000020004"/>
                  <a:ea typeface="Fira Sans Bold" panose="020B0803050000020004"/>
                  <a:cs typeface="Fira Sans Bold" panose="020B0803050000020004"/>
                  <a:sym typeface="Fira Sans Bold" panose="020B0803050000020004"/>
                </a:rPr>
                <a:t>IAN FASHION MARKET LACKS DEDICATED ONLINE PLATFORMS FOR LOCAL STREETWEAR BRANDS THAT PROVIDE:</a:t>
              </a:r>
              <a:endParaRPr lang="en-US" sz="3000" b="1">
                <a:solidFill>
                  <a:srgbClr val="E0D4C3"/>
                </a:solidFill>
                <a:latin typeface="Fira Sans Bold" panose="020B0803050000020004"/>
                <a:ea typeface="Fira Sans Bold" panose="020B0803050000020004"/>
                <a:cs typeface="Fira Sans Bold" panose="020B0803050000020004"/>
                <a:sym typeface="Fira Sans Bold" panose="020B0803050000020004"/>
              </a:endParaRPr>
            </a:p>
            <a:p>
              <a:pPr marL="518160" lvl="1" indent="-259080" algn="l">
                <a:lnSpc>
                  <a:spcPts val="3360"/>
                </a:lnSpc>
                <a:buFont typeface="Arial" panose="020B0604020202020204"/>
                <a:buChar char="•"/>
              </a:pPr>
              <a:r>
                <a:rPr lang="en-US" sz="2400">
                  <a:solidFill>
                    <a:srgbClr val="E0D4C3"/>
                  </a:solidFill>
                  <a:latin typeface="Fira Sans" panose="020B0503050000020004"/>
                  <a:ea typeface="Fira Sans" panose="020B0503050000020004"/>
                  <a:cs typeface="Fira Sans" panose="020B0503050000020004"/>
                  <a:sym typeface="Fira Sans" panose="020B0503050000020004"/>
                </a:rPr>
                <a:t>MODERN, USER-FRIENDLY SHOPPING EXPERIENCES</a:t>
              </a:r>
              <a:endParaRPr lang="en-US" sz="2400">
                <a:solidFill>
                  <a:srgbClr val="E0D4C3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endParaRPr>
            </a:p>
            <a:p>
              <a:pPr marL="518160" lvl="1" indent="-259080" algn="l">
                <a:lnSpc>
                  <a:spcPts val="3360"/>
                </a:lnSpc>
                <a:buFont typeface="Arial" panose="020B0604020202020204"/>
                <a:buChar char="•"/>
              </a:pPr>
              <a:r>
                <a:rPr lang="en-US" sz="2400">
                  <a:solidFill>
                    <a:srgbClr val="E0D4C3"/>
                  </a:solidFill>
                  <a:latin typeface="Fira Sans" panose="020B0503050000020004"/>
                  <a:ea typeface="Fira Sans" panose="020B0503050000020004"/>
                  <a:cs typeface="Fira Sans" panose="020B0503050000020004"/>
                  <a:sym typeface="Fira Sans" panose="020B0503050000020004"/>
                </a:rPr>
                <a:t>INTEGRATION OF EGYPTIAN CULTURAL AESTHETICS WITH CONTEMPORARY DESIGN</a:t>
              </a:r>
              <a:endParaRPr lang="en-US" sz="2400">
                <a:solidFill>
                  <a:srgbClr val="E0D4C3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endParaRPr>
            </a:p>
            <a:p>
              <a:pPr marL="518160" lvl="1" indent="-259080" algn="l">
                <a:lnSpc>
                  <a:spcPts val="3360"/>
                </a:lnSpc>
                <a:buFont typeface="Arial" panose="020B0604020202020204"/>
                <a:buChar char="•"/>
              </a:pPr>
              <a:r>
                <a:rPr lang="en-US" sz="2400">
                  <a:solidFill>
                    <a:srgbClr val="E0D4C3"/>
                  </a:solidFill>
                  <a:latin typeface="Fira Sans" panose="020B0503050000020004"/>
                  <a:ea typeface="Fira Sans" panose="020B0503050000020004"/>
                  <a:cs typeface="Fira Sans" panose="020B0503050000020004"/>
                  <a:sym typeface="Fira Sans" panose="020B0503050000020004"/>
                </a:rPr>
                <a:t>COMPLETE E-COMMERCE FUNCTIONALITY (USER ACCOUNTS, CART, CHECKOUT)</a:t>
              </a:r>
              <a:endParaRPr lang="en-US" sz="2400">
                <a:solidFill>
                  <a:srgbClr val="E0D4C3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endParaRPr>
            </a:p>
            <a:p>
              <a:pPr marL="518160" lvl="1" indent="-259080" algn="l">
                <a:lnSpc>
                  <a:spcPts val="3360"/>
                </a:lnSpc>
                <a:buFont typeface="Arial" panose="020B0604020202020204"/>
                <a:buChar char="•"/>
              </a:pPr>
              <a:r>
                <a:rPr lang="en-US" sz="2400">
                  <a:solidFill>
                    <a:srgbClr val="E0D4C3"/>
                  </a:solidFill>
                  <a:latin typeface="Fira Sans" panose="020B0503050000020004"/>
                  <a:ea typeface="Fira Sans" panose="020B0503050000020004"/>
                  <a:cs typeface="Fira Sans" panose="020B0503050000020004"/>
                  <a:sym typeface="Fira Sans" panose="020B0503050000020004"/>
                </a:rPr>
                <a:t>RESPONSIVE DESIGN FOR MOBILE AND DESKTOP USERS</a:t>
              </a:r>
              <a:endParaRPr lang="en-US" sz="2400">
                <a:solidFill>
                  <a:srgbClr val="E0D4C3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endParaRPr>
            </a:p>
            <a:p>
              <a:pPr marL="518160" lvl="1" indent="-259080" algn="l">
                <a:lnSpc>
                  <a:spcPts val="3360"/>
                </a:lnSpc>
                <a:buFont typeface="Arial" panose="020B0604020202020204"/>
                <a:buChar char="•"/>
              </a:pPr>
              <a:r>
                <a:rPr lang="en-US" sz="2400">
                  <a:solidFill>
                    <a:srgbClr val="E0D4C3"/>
                  </a:solidFill>
                  <a:latin typeface="Fira Sans" panose="020B0503050000020004"/>
                  <a:ea typeface="Fira Sans" panose="020B0503050000020004"/>
                  <a:cs typeface="Fira Sans" panose="020B0503050000020004"/>
                  <a:sym typeface="Fira Sans" panose="020B0503050000020004"/>
                </a:rPr>
                <a:t>INTERACTIVE PRODUCT SHOWCASES WITH ENGAGING ANIMATIONS</a:t>
              </a:r>
              <a:endParaRPr lang="en-US" sz="2400">
                <a:solidFill>
                  <a:srgbClr val="E0D4C3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endParaRPr>
            </a:p>
            <a:p>
              <a:pPr marL="518160" lvl="1" indent="-259080" algn="l">
                <a:lnSpc>
                  <a:spcPts val="3360"/>
                </a:lnSpc>
                <a:buFont typeface="Arial" panose="020B0604020202020204"/>
                <a:buChar char="•"/>
              </a:pPr>
              <a:r>
                <a:rPr lang="en-US" sz="2400">
                  <a:solidFill>
                    <a:srgbClr val="E0D4C3"/>
                  </a:solidFill>
                  <a:latin typeface="Fira Sans" panose="020B0503050000020004"/>
                  <a:ea typeface="Fira Sans" panose="020B0503050000020004"/>
                  <a:cs typeface="Fira Sans" panose="020B0503050000020004"/>
                  <a:sym typeface="Fira Sans" panose="020B0503050000020004"/>
                </a:rPr>
                <a:t>MARKET AND RELATED COMPANIES</a:t>
              </a:r>
              <a:endParaRPr lang="en-US" sz="2400">
                <a:solidFill>
                  <a:srgbClr val="E0D4C3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endParaRPr>
            </a:p>
            <a:p>
              <a:pPr marL="0" lvl="0" indent="0" algn="l">
                <a:lnSpc>
                  <a:spcPts val="280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 rot="0">
            <a:off x="666750" y="666750"/>
            <a:ext cx="8629650" cy="8953500"/>
            <a:chOff x="0" y="0"/>
            <a:chExt cx="1336959" cy="13871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6959" cy="1387131"/>
            </a:xfrm>
            <a:custGeom>
              <a:avLst/>
              <a:gdLst/>
              <a:ahLst/>
              <a:cxnLst/>
              <a:rect l="l" t="t" r="r" b="b"/>
              <a:pathLst>
                <a:path w="1336959" h="1387131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3"/>
              <a:stretch>
                <a:fillRect t="-199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5" name="Group 5"/>
          <p:cNvGrpSpPr/>
          <p:nvPr/>
        </p:nvGrpSpPr>
        <p:grpSpPr>
          <a:xfrm rot="0">
            <a:off x="10734675" y="680185"/>
            <a:ext cx="6886575" cy="4229702"/>
            <a:chOff x="0" y="0"/>
            <a:chExt cx="9182100" cy="5639603"/>
          </a:xfrm>
        </p:grpSpPr>
        <p:sp>
          <p:nvSpPr>
            <p:cNvPr id="6" name="TextBox 6"/>
            <p:cNvSpPr txBox="1"/>
            <p:nvPr/>
          </p:nvSpPr>
          <p:spPr>
            <a:xfrm>
              <a:off x="0" y="2492393"/>
              <a:ext cx="9182100" cy="31472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025"/>
                </a:lnSpc>
              </a:pPr>
              <a:r>
                <a:rPr lang="en-US" sz="6025">
                  <a:solidFill>
                    <a:srgbClr val="CFD9E7"/>
                  </a:solidFill>
                  <a:latin typeface="Gilda Display" panose="02000000000000000000"/>
                  <a:ea typeface="Gilda Display" panose="02000000000000000000"/>
                  <a:cs typeface="Gilda Display" panose="02000000000000000000"/>
                  <a:sym typeface="Gilda Display" panose="02000000000000000000"/>
                </a:rPr>
                <a:t>Frontend Development: Methodology Used</a:t>
              </a:r>
              <a:endParaRPr lang="en-US" sz="6025">
                <a:solidFill>
                  <a:srgbClr val="CFD9E7"/>
                </a:solidFill>
                <a:latin typeface="Gilda Display" panose="02000000000000000000"/>
                <a:ea typeface="Gilda Display" panose="02000000000000000000"/>
                <a:cs typeface="Gilda Display" panose="02000000000000000000"/>
                <a:sym typeface="Gilda Display" panose="0200000000000000000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71668"/>
              <a:ext cx="9182100" cy="9340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80"/>
                </a:lnSpc>
              </a:pPr>
              <a:r>
                <a:rPr lang="en-US" sz="4200" b="1">
                  <a:solidFill>
                    <a:srgbClr val="CFD9E7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Methodology Overview</a:t>
              </a:r>
              <a:endParaRPr lang="en-US" sz="4200" b="1">
                <a:solidFill>
                  <a:srgbClr val="CFD9E7"/>
                </a:solidFill>
                <a:latin typeface="HK Grotesk Bold" panose="00000800000000000000"/>
                <a:ea typeface="HK Grotesk Bold" panose="00000800000000000000"/>
                <a:cs typeface="HK Grotesk Bold" panose="00000800000000000000"/>
                <a:sym typeface="HK Grotesk Bold" panose="0000080000000000000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182100" cy="493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200">
                  <a:solidFill>
                    <a:srgbClr val="CFD9E7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Dec 29, 2025</a:t>
              </a:r>
              <a:endParaRPr lang="en-US" sz="2200">
                <a:solidFill>
                  <a:srgbClr val="CFD9E7"/>
                </a:solidFill>
                <a:latin typeface="HK Grotesk Light" panose="00000400000000000000"/>
                <a:ea typeface="HK Grotesk Light" panose="00000400000000000000"/>
                <a:cs typeface="HK Grotesk Light" panose="00000400000000000000"/>
                <a:sym typeface="HK Grotesk Light" panose="0000040000000000000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66750" y="666750"/>
            <a:ext cx="14077950" cy="2062247"/>
            <a:chOff x="0" y="0"/>
            <a:chExt cx="18770600" cy="2749662"/>
          </a:xfrm>
        </p:grpSpPr>
        <p:sp>
          <p:nvSpPr>
            <p:cNvPr id="3" name="TextBox 3"/>
            <p:cNvSpPr txBox="1"/>
            <p:nvPr/>
          </p:nvSpPr>
          <p:spPr>
            <a:xfrm>
              <a:off x="0" y="171450"/>
              <a:ext cx="187706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800">
                  <a:solidFill>
                    <a:srgbClr val="CFD9E7"/>
                  </a:solidFill>
                  <a:latin typeface="Gilda Display" panose="02000000000000000000"/>
                  <a:ea typeface="Gilda Display" panose="02000000000000000000"/>
                  <a:cs typeface="Gilda Display" panose="02000000000000000000"/>
                  <a:sym typeface="Gilda Display" panose="02000000000000000000"/>
                </a:rPr>
                <a:t>Frontend Development</a:t>
              </a:r>
              <a:endParaRPr lang="en-US" sz="8800">
                <a:solidFill>
                  <a:srgbClr val="CFD9E7"/>
                </a:solidFill>
                <a:latin typeface="Gilda Display" panose="02000000000000000000"/>
                <a:ea typeface="Gilda Display" panose="02000000000000000000"/>
                <a:cs typeface="Gilda Display" panose="02000000000000000000"/>
                <a:sym typeface="Gilda Display" panose="0200000000000000000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130537"/>
              <a:ext cx="187706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CFD9E7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Enhancing user interaction and experience</a:t>
              </a:r>
              <a:endParaRPr lang="en-US" sz="3000" b="1">
                <a:solidFill>
                  <a:srgbClr val="CFD9E7"/>
                </a:solidFill>
                <a:latin typeface="HK Grotesk Bold" panose="00000800000000000000"/>
                <a:ea typeface="HK Grotesk Bold" panose="00000800000000000000"/>
                <a:cs typeface="HK Grotesk Bold" panose="00000800000000000000"/>
                <a:sym typeface="HK Grotesk Bold" panose="0000080000000000000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666750" y="5143500"/>
            <a:ext cx="6886575" cy="3333750"/>
            <a:chOff x="0" y="0"/>
            <a:chExt cx="9182100" cy="4445000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CFD9E7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HTML5 Structure</a:t>
              </a:r>
              <a:endParaRPr lang="en-US" sz="3000" b="1">
                <a:solidFill>
                  <a:srgbClr val="CFD9E7"/>
                </a:solidFill>
                <a:latin typeface="HK Grotesk Bold" panose="00000800000000000000"/>
                <a:ea typeface="HK Grotesk Bold" panose="00000800000000000000"/>
                <a:cs typeface="HK Grotesk Bold" panose="00000800000000000000"/>
                <a:sym typeface="HK Grotesk Bold" panose="0000080000000000000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155700"/>
              <a:ext cx="9182100" cy="3289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u="none" strike="noStrike">
                  <a:solidFill>
                    <a:srgbClr val="CFD9E7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HTML5 provides a </a:t>
              </a:r>
              <a:r>
                <a:rPr lang="en-US" sz="3000" b="1" u="none" strike="noStrike">
                  <a:solidFill>
                    <a:srgbClr val="CFD9E7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semantic structure</a:t>
              </a:r>
              <a:r>
                <a:rPr lang="en-US" sz="3000" u="none" strike="noStrike">
                  <a:solidFill>
                    <a:srgbClr val="CFD9E7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 that enhances accessibility and SEO, allowing for better content organization and improved search engine visibility, ensuring a richer user experience.</a:t>
              </a:r>
              <a:endParaRPr lang="en-US" sz="3000" u="none" strike="noStrike">
                <a:solidFill>
                  <a:srgbClr val="CFD9E7"/>
                </a:solidFill>
                <a:latin typeface="HK Grotesk Light" panose="00000400000000000000"/>
                <a:ea typeface="HK Grotesk Light" panose="00000400000000000000"/>
                <a:cs typeface="HK Grotesk Light" panose="00000400000000000000"/>
                <a:sym typeface="HK Grotesk Light" panose="0000040000000000000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7858125" y="5143500"/>
            <a:ext cx="6886575" cy="4324350"/>
            <a:chOff x="0" y="0"/>
            <a:chExt cx="9182100" cy="5765800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CFD9E7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CSS3 Features &amp; JAVASCRIPT</a:t>
              </a:r>
              <a:endParaRPr lang="en-US" sz="3000" b="1" u="none" strike="noStrike">
                <a:solidFill>
                  <a:srgbClr val="CFD9E7"/>
                </a:solidFill>
                <a:latin typeface="HK Grotesk Bold" panose="00000800000000000000"/>
                <a:ea typeface="HK Grotesk Bold" panose="00000800000000000000"/>
                <a:cs typeface="HK Grotesk Bold" panose="00000800000000000000"/>
                <a:sym typeface="HK Grotesk Bold" panose="0000080000000000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155700"/>
              <a:ext cx="9182100" cy="4610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u="none" strike="noStrike">
                  <a:solidFill>
                    <a:srgbClr val="CFD9E7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Utilizing CSS3 modern features like </a:t>
              </a:r>
              <a:r>
                <a:rPr lang="en-US" sz="3000" b="1" u="none" strike="noStrike">
                  <a:solidFill>
                    <a:srgbClr val="CFD9E7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Flexbox</a:t>
              </a:r>
              <a:r>
                <a:rPr lang="en-US" sz="3000" u="none" strike="noStrike">
                  <a:solidFill>
                    <a:srgbClr val="CFD9E7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 and </a:t>
              </a:r>
              <a:r>
                <a:rPr lang="en-US" sz="3000" b="1" u="none" strike="noStrike">
                  <a:solidFill>
                    <a:srgbClr val="CFD9E7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Grid</a:t>
              </a:r>
              <a:r>
                <a:rPr lang="en-US" sz="3000" u="none" strike="noStrike">
                  <a:solidFill>
                    <a:srgbClr val="CFD9E7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 enables responsive layouts, while CSS Variables facilitate easy theme management, including support for dark mode to enhance user comfort and DOM manipulation,regular exp.</a:t>
              </a:r>
              <a:endParaRPr lang="en-US" sz="3000" u="none" strike="noStrike">
                <a:solidFill>
                  <a:srgbClr val="CFD9E7"/>
                </a:solidFill>
                <a:latin typeface="HK Grotesk Light" panose="00000400000000000000"/>
                <a:ea typeface="HK Grotesk Light" panose="00000400000000000000"/>
                <a:cs typeface="HK Grotesk Light" panose="00000400000000000000"/>
                <a:sym typeface="HK Grotesk Light" panose="00000400000000000000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 rot="4437773">
            <a:off x="13770320" y="-6241286"/>
            <a:ext cx="12640239" cy="11904807"/>
          </a:xfrm>
          <a:custGeom>
            <a:avLst/>
            <a:gdLst/>
            <a:ahLst/>
            <a:cxnLst/>
            <a:rect l="l" t="t" r="r" b="b"/>
            <a:pathLst>
              <a:path w="12640239" h="11904807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0275" cy="1560523"/>
            </a:xfrm>
            <a:custGeom>
              <a:avLst/>
              <a:gdLst/>
              <a:ahLst/>
              <a:cxnLst/>
              <a:rect l="l" t="t" r="r" b="b"/>
              <a:pathLst>
                <a:path w="1200275" h="1560523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1"/>
              <a:stretch>
                <a:fillRect t="-271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666750" y="666750"/>
            <a:ext cx="8324850" cy="4133849"/>
            <a:chOff x="0" y="0"/>
            <a:chExt cx="11099800" cy="5511799"/>
          </a:xfrm>
        </p:grpSpPr>
        <p:sp>
          <p:nvSpPr>
            <p:cNvPr id="5" name="TextBox 5"/>
            <p:cNvSpPr txBox="1"/>
            <p:nvPr/>
          </p:nvSpPr>
          <p:spPr>
            <a:xfrm>
              <a:off x="0" y="3543299"/>
              <a:ext cx="11099800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CFD9E7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A </a:t>
              </a:r>
              <a:r>
                <a:rPr lang="en-US" sz="3000" b="1">
                  <a:solidFill>
                    <a:srgbClr val="CFD9E7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mobile-first approach</a:t>
              </a:r>
              <a:r>
                <a:rPr lang="en-US" sz="3000">
                  <a:solidFill>
                    <a:srgbClr val="CFD9E7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 ensures seamless user experiences across devices by prioritizing features and layout for smaller screens.</a:t>
              </a:r>
              <a:endParaRPr lang="en-US" sz="3000">
                <a:solidFill>
                  <a:srgbClr val="CFD9E7"/>
                </a:solidFill>
                <a:latin typeface="HK Grotesk Light" panose="00000400000000000000"/>
                <a:ea typeface="HK Grotesk Light" panose="00000400000000000000"/>
                <a:cs typeface="HK Grotesk Light" panose="00000400000000000000"/>
                <a:sym typeface="HK Grotesk Light" panose="0000040000000000000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1450"/>
              <a:ext cx="11099800" cy="3098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800">
                  <a:solidFill>
                    <a:srgbClr val="CFD9E7"/>
                  </a:solidFill>
                  <a:latin typeface="Gilda Display" panose="02000000000000000000"/>
                  <a:ea typeface="Gilda Display" panose="02000000000000000000"/>
                  <a:cs typeface="Gilda Display" panose="02000000000000000000"/>
                  <a:sym typeface="Gilda Display" panose="02000000000000000000"/>
                </a:rPr>
                <a:t>Responsive Design</a:t>
              </a:r>
              <a:endParaRPr lang="en-US" sz="8800">
                <a:solidFill>
                  <a:srgbClr val="CFD9E7"/>
                </a:solidFill>
                <a:latin typeface="Gilda Display" panose="02000000000000000000"/>
                <a:ea typeface="Gilda Display" panose="02000000000000000000"/>
                <a:cs typeface="Gilda Display" panose="02000000000000000000"/>
                <a:sym typeface="Gilda Display" panose="0200000000000000000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66750" y="666750"/>
            <a:ext cx="14077950" cy="2062247"/>
            <a:chOff x="0" y="0"/>
            <a:chExt cx="18770600" cy="2749662"/>
          </a:xfrm>
        </p:grpSpPr>
        <p:sp>
          <p:nvSpPr>
            <p:cNvPr id="3" name="TextBox 3"/>
            <p:cNvSpPr txBox="1"/>
            <p:nvPr/>
          </p:nvSpPr>
          <p:spPr>
            <a:xfrm>
              <a:off x="0" y="171450"/>
              <a:ext cx="187706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800">
                  <a:solidFill>
                    <a:srgbClr val="CFD9E7"/>
                  </a:solidFill>
                  <a:latin typeface="Gilda Display" panose="02000000000000000000"/>
                  <a:ea typeface="Gilda Display" panose="02000000000000000000"/>
                  <a:cs typeface="Gilda Display" panose="02000000000000000000"/>
                  <a:sym typeface="Gilda Display" panose="02000000000000000000"/>
                </a:rPr>
                <a:t>Backend Integration</a:t>
              </a:r>
              <a:endParaRPr lang="en-US" sz="8800">
                <a:solidFill>
                  <a:srgbClr val="CFD9E7"/>
                </a:solidFill>
                <a:latin typeface="Gilda Display" panose="02000000000000000000"/>
                <a:ea typeface="Gilda Display" panose="02000000000000000000"/>
                <a:cs typeface="Gilda Display" panose="02000000000000000000"/>
                <a:sym typeface="Gilda Display" panose="0200000000000000000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130537"/>
              <a:ext cx="187706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CFD9E7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Exploring the essential architecture methods</a:t>
              </a:r>
              <a:endParaRPr lang="en-US" sz="3000" b="1">
                <a:solidFill>
                  <a:srgbClr val="CFD9E7"/>
                </a:solidFill>
                <a:latin typeface="HK Grotesk Bold" panose="00000800000000000000"/>
                <a:ea typeface="HK Grotesk Bold" panose="00000800000000000000"/>
                <a:cs typeface="HK Grotesk Bold" panose="00000800000000000000"/>
                <a:sym typeface="HK Grotesk Bold" panose="0000080000000000000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666750" y="5143500"/>
            <a:ext cx="6886575" cy="3333750"/>
            <a:chOff x="0" y="0"/>
            <a:chExt cx="9182100" cy="4445000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CFD9E7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Flask API</a:t>
              </a:r>
              <a:endParaRPr lang="en-US" sz="3000" b="1">
                <a:solidFill>
                  <a:srgbClr val="CFD9E7"/>
                </a:solidFill>
                <a:latin typeface="HK Grotesk Bold" panose="00000800000000000000"/>
                <a:ea typeface="HK Grotesk Bold" panose="00000800000000000000"/>
                <a:cs typeface="HK Grotesk Bold" panose="00000800000000000000"/>
                <a:sym typeface="HK Grotesk Bold" panose="0000080000000000000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155700"/>
              <a:ext cx="9182100" cy="3289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u="none" strike="noStrike">
                  <a:solidFill>
                    <a:srgbClr val="CFD9E7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Flask provides a lightweight backend framework, enabling </a:t>
              </a:r>
              <a:r>
                <a:rPr lang="en-US" sz="3000" b="1" u="none" strike="noStrike">
                  <a:solidFill>
                    <a:srgbClr val="CFD9E7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easy integration</a:t>
              </a:r>
              <a:r>
                <a:rPr lang="en-US" sz="3000" u="none" strike="noStrike">
                  <a:solidFill>
                    <a:srgbClr val="CFD9E7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 for developing RESTful APIs, ensuring quick responses for user authentication and cart management functionalities.</a:t>
              </a:r>
              <a:endParaRPr lang="en-US" sz="3000" u="none" strike="noStrike">
                <a:solidFill>
                  <a:srgbClr val="CFD9E7"/>
                </a:solidFill>
                <a:latin typeface="HK Grotesk Light" panose="00000400000000000000"/>
                <a:ea typeface="HK Grotesk Light" panose="00000400000000000000"/>
                <a:cs typeface="HK Grotesk Light" panose="00000400000000000000"/>
                <a:sym typeface="HK Grotesk Light" panose="0000040000000000000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7858125" y="5143500"/>
            <a:ext cx="6886575" cy="3829050"/>
            <a:chOff x="0" y="0"/>
            <a:chExt cx="9182100" cy="5105400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CFD9E7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LocalStorage Fallback</a:t>
              </a:r>
              <a:endParaRPr lang="en-US" sz="3000" b="1" u="none" strike="noStrike">
                <a:solidFill>
                  <a:srgbClr val="CFD9E7"/>
                </a:solidFill>
                <a:latin typeface="HK Grotesk Bold" panose="00000800000000000000"/>
                <a:ea typeface="HK Grotesk Bold" panose="00000800000000000000"/>
                <a:cs typeface="HK Grotesk Bold" panose="00000800000000000000"/>
                <a:sym typeface="HK Grotesk Bold" panose="0000080000000000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155700"/>
              <a:ext cx="9182100" cy="3949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u="none" strike="noStrike">
                  <a:solidFill>
                    <a:srgbClr val="CFD9E7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Implementing localStorage offers a reliable </a:t>
              </a:r>
              <a:r>
                <a:rPr lang="en-US" sz="3000" b="1" u="none" strike="noStrike">
                  <a:solidFill>
                    <a:srgbClr val="CFD9E7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backup solution</a:t>
              </a:r>
              <a:r>
                <a:rPr lang="en-US" sz="3000" u="none" strike="noStrike">
                  <a:solidFill>
                    <a:srgbClr val="CFD9E7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, allowing seamless cart management and user session persistence even when the backend service is temporarily unresponsive.</a:t>
              </a:r>
              <a:endParaRPr lang="en-US" sz="3000" u="none" strike="noStrike">
                <a:solidFill>
                  <a:srgbClr val="CFD9E7"/>
                </a:solidFill>
                <a:latin typeface="HK Grotesk Light" panose="00000400000000000000"/>
                <a:ea typeface="HK Grotesk Light" panose="00000400000000000000"/>
                <a:cs typeface="HK Grotesk Light" panose="00000400000000000000"/>
                <a:sym typeface="HK Grotesk Light" panose="00000400000000000000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 rot="4437773">
            <a:off x="13770320" y="-6241286"/>
            <a:ext cx="12640239" cy="11904807"/>
          </a:xfrm>
          <a:custGeom>
            <a:avLst/>
            <a:gdLst/>
            <a:ahLst/>
            <a:cxnLst/>
            <a:rect l="l" t="t" r="r" b="b"/>
            <a:pathLst>
              <a:path w="12640239" h="11904807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0275" cy="1560523"/>
            </a:xfrm>
            <a:custGeom>
              <a:avLst/>
              <a:gdLst/>
              <a:ahLst/>
              <a:cxnLst/>
              <a:rect l="l" t="t" r="r" b="b"/>
              <a:pathLst>
                <a:path w="1200275" h="1560523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1"/>
              <a:stretch>
                <a:fillRect t="-271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666750" y="666750"/>
            <a:ext cx="8324850" cy="4629149"/>
            <a:chOff x="0" y="0"/>
            <a:chExt cx="11099800" cy="6172199"/>
          </a:xfrm>
        </p:grpSpPr>
        <p:sp>
          <p:nvSpPr>
            <p:cNvPr id="5" name="TextBox 5"/>
            <p:cNvSpPr txBox="1"/>
            <p:nvPr/>
          </p:nvSpPr>
          <p:spPr>
            <a:xfrm>
              <a:off x="0" y="3543299"/>
              <a:ext cx="11099800" cy="2628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CFD9E7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Effective </a:t>
              </a:r>
              <a:r>
                <a:rPr lang="en-US" sz="3000" b="1">
                  <a:solidFill>
                    <a:srgbClr val="CFD9E7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JSON data handling</a:t>
              </a:r>
              <a:r>
                <a:rPr lang="en-US" sz="3000">
                  <a:solidFill>
                    <a:srgbClr val="CFD9E7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 ensures smooth product information retrieval, enhancing user experience and optimizing application performance.</a:t>
              </a:r>
              <a:endParaRPr lang="en-US" sz="3000">
                <a:solidFill>
                  <a:srgbClr val="CFD9E7"/>
                </a:solidFill>
                <a:latin typeface="HK Grotesk Light" panose="00000400000000000000"/>
                <a:ea typeface="HK Grotesk Light" panose="00000400000000000000"/>
                <a:cs typeface="HK Grotesk Light" panose="00000400000000000000"/>
                <a:sym typeface="HK Grotesk Light" panose="0000040000000000000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1450"/>
              <a:ext cx="11099800" cy="3098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800">
                  <a:solidFill>
                    <a:srgbClr val="CFD9E7"/>
                  </a:solidFill>
                  <a:latin typeface="Gilda Display" panose="02000000000000000000"/>
                  <a:ea typeface="Gilda Display" panose="02000000000000000000"/>
                  <a:cs typeface="Gilda Display" panose="02000000000000000000"/>
                  <a:sym typeface="Gilda Display" panose="02000000000000000000"/>
                </a:rPr>
                <a:t>JSON Data Handling</a:t>
              </a:r>
              <a:endParaRPr lang="en-US" sz="8800">
                <a:solidFill>
                  <a:srgbClr val="CFD9E7"/>
                </a:solidFill>
                <a:latin typeface="Gilda Display" panose="02000000000000000000"/>
                <a:ea typeface="Gilda Display" panose="02000000000000000000"/>
                <a:cs typeface="Gilda Display" panose="02000000000000000000"/>
                <a:sym typeface="Gilda Display" panose="0200000000000000000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66750" y="666750"/>
            <a:ext cx="14077950" cy="2062247"/>
            <a:chOff x="0" y="0"/>
            <a:chExt cx="18770600" cy="2749662"/>
          </a:xfrm>
        </p:grpSpPr>
        <p:sp>
          <p:nvSpPr>
            <p:cNvPr id="3" name="TextBox 3"/>
            <p:cNvSpPr txBox="1"/>
            <p:nvPr/>
          </p:nvSpPr>
          <p:spPr>
            <a:xfrm>
              <a:off x="0" y="171450"/>
              <a:ext cx="187706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800">
                  <a:solidFill>
                    <a:srgbClr val="CFD9E7"/>
                  </a:solidFill>
                  <a:latin typeface="Gilda Display" panose="02000000000000000000"/>
                  <a:ea typeface="Gilda Display" panose="02000000000000000000"/>
                  <a:cs typeface="Gilda Display" panose="02000000000000000000"/>
                  <a:sym typeface="Gilda Display" panose="02000000000000000000"/>
                </a:rPr>
                <a:t>User Experience</a:t>
              </a:r>
              <a:endParaRPr lang="en-US" sz="8800">
                <a:solidFill>
                  <a:srgbClr val="CFD9E7"/>
                </a:solidFill>
                <a:latin typeface="Gilda Display" panose="02000000000000000000"/>
                <a:ea typeface="Gilda Display" panose="02000000000000000000"/>
                <a:cs typeface="Gilda Display" panose="02000000000000000000"/>
                <a:sym typeface="Gilda Display" panose="0200000000000000000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130537"/>
              <a:ext cx="187706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CFD9E7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Enhancing interaction through design elements</a:t>
              </a:r>
              <a:endParaRPr lang="en-US" sz="3000" b="1">
                <a:solidFill>
                  <a:srgbClr val="CFD9E7"/>
                </a:solidFill>
                <a:latin typeface="HK Grotesk Bold" panose="00000800000000000000"/>
                <a:ea typeface="HK Grotesk Bold" panose="00000800000000000000"/>
                <a:cs typeface="HK Grotesk Bold" panose="00000800000000000000"/>
                <a:sym typeface="HK Grotesk Bold" panose="0000080000000000000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666750" y="5143500"/>
            <a:ext cx="6886575" cy="3333750"/>
            <a:chOff x="0" y="0"/>
            <a:chExt cx="9182100" cy="4445000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CFD9E7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Parallax Effects</a:t>
              </a:r>
              <a:endParaRPr lang="en-US" sz="3000" b="1">
                <a:solidFill>
                  <a:srgbClr val="CFD9E7"/>
                </a:solidFill>
                <a:latin typeface="HK Grotesk Bold" panose="00000800000000000000"/>
                <a:ea typeface="HK Grotesk Bold" panose="00000800000000000000"/>
                <a:cs typeface="HK Grotesk Bold" panose="00000800000000000000"/>
                <a:sym typeface="HK Grotesk Bold" panose="0000080000000000000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155700"/>
              <a:ext cx="9182100" cy="3289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u="none" strike="noStrike">
                  <a:solidFill>
                    <a:srgbClr val="CFD9E7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Parallax scrolling creates depth by allowing background images to move slower than foreground content, resulting in a </a:t>
              </a:r>
              <a:r>
                <a:rPr lang="en-US" sz="3000" b="1" u="none" strike="noStrike">
                  <a:solidFill>
                    <a:srgbClr val="CFD9E7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dynamic experience</a:t>
              </a:r>
              <a:r>
                <a:rPr lang="en-US" sz="3000" u="none" strike="noStrike">
                  <a:solidFill>
                    <a:srgbClr val="CFD9E7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 that engages users and enhances storytelling.</a:t>
              </a:r>
              <a:endParaRPr lang="en-US" sz="3000" u="none" strike="noStrike">
                <a:solidFill>
                  <a:srgbClr val="CFD9E7"/>
                </a:solidFill>
                <a:latin typeface="HK Grotesk Light" panose="00000400000000000000"/>
                <a:ea typeface="HK Grotesk Light" panose="00000400000000000000"/>
                <a:cs typeface="HK Grotesk Light" panose="00000400000000000000"/>
                <a:sym typeface="HK Grotesk Light" panose="0000040000000000000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7858125" y="5143500"/>
            <a:ext cx="6886575" cy="3829050"/>
            <a:chOff x="0" y="0"/>
            <a:chExt cx="9182100" cy="5105400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CFD9E7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Smooth Transitions</a:t>
              </a:r>
              <a:endParaRPr lang="en-US" sz="3000" b="1" u="none" strike="noStrike">
                <a:solidFill>
                  <a:srgbClr val="CFD9E7"/>
                </a:solidFill>
                <a:latin typeface="HK Grotesk Bold" panose="00000800000000000000"/>
                <a:ea typeface="HK Grotesk Bold" panose="00000800000000000000"/>
                <a:cs typeface="HK Grotesk Bold" panose="00000800000000000000"/>
                <a:sym typeface="HK Grotesk Bold" panose="0000080000000000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155700"/>
              <a:ext cx="9182100" cy="3949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u="none" strike="noStrike">
                  <a:solidFill>
                    <a:srgbClr val="CFD9E7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Implementing smooth transitions and micro-interactions enhances usability, providing users with instant feedback and guiding them effortlessly through the application, thereby increasing overall satisfaction and engagement.</a:t>
              </a:r>
              <a:endParaRPr lang="en-US" sz="3000" u="none" strike="noStrike">
                <a:solidFill>
                  <a:srgbClr val="CFD9E7"/>
                </a:solidFill>
                <a:latin typeface="HK Grotesk Light" panose="00000400000000000000"/>
                <a:ea typeface="HK Grotesk Light" panose="00000400000000000000"/>
                <a:cs typeface="HK Grotesk Light" panose="00000400000000000000"/>
                <a:sym typeface="HK Grotesk Light" panose="00000400000000000000"/>
              </a:endParaRPr>
            </a:p>
          </p:txBody>
        </p:sp>
      </p:grpSp>
      <p:sp>
        <p:nvSpPr>
          <p:cNvPr id="11" name="Freeform 11"/>
          <p:cNvSpPr/>
          <p:nvPr/>
        </p:nvSpPr>
        <p:spPr>
          <a:xfrm rot="4437773">
            <a:off x="13770320" y="-6241286"/>
            <a:ext cx="12640239" cy="11904807"/>
          </a:xfrm>
          <a:custGeom>
            <a:avLst/>
            <a:gdLst/>
            <a:ahLst/>
            <a:cxnLst/>
            <a:rect l="l" t="t" r="r" b="b"/>
            <a:pathLst>
              <a:path w="12640239" h="11904807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0275" cy="1560523"/>
            </a:xfrm>
            <a:custGeom>
              <a:avLst/>
              <a:gdLst/>
              <a:ahLst/>
              <a:cxnLst/>
              <a:rect l="l" t="t" r="r" b="b"/>
              <a:pathLst>
                <a:path w="1200275" h="1560523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1"/>
              <a:stretch>
                <a:fillRect t="-271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id="4" name="Group 4"/>
          <p:cNvGrpSpPr/>
          <p:nvPr/>
        </p:nvGrpSpPr>
        <p:grpSpPr>
          <a:xfrm rot="0">
            <a:off x="666750" y="666750"/>
            <a:ext cx="8324850" cy="4133849"/>
            <a:chOff x="0" y="0"/>
            <a:chExt cx="11099800" cy="5511799"/>
          </a:xfrm>
        </p:grpSpPr>
        <p:sp>
          <p:nvSpPr>
            <p:cNvPr id="5" name="TextBox 5"/>
            <p:cNvSpPr txBox="1"/>
            <p:nvPr/>
          </p:nvSpPr>
          <p:spPr>
            <a:xfrm>
              <a:off x="0" y="3543299"/>
              <a:ext cx="11099800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CFD9E7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A </a:t>
              </a:r>
              <a:r>
                <a:rPr lang="en-US" sz="3000" b="1">
                  <a:solidFill>
                    <a:srgbClr val="CFD9E7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progressive enhancement approach</a:t>
              </a:r>
              <a:r>
                <a:rPr lang="en-US" sz="3000">
                  <a:solidFill>
                    <a:srgbClr val="CFD9E7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 ensures users benefit from a robust experience, regardless of their browser capabilities or network conditions.</a:t>
              </a:r>
              <a:endParaRPr lang="en-US" sz="3000">
                <a:solidFill>
                  <a:srgbClr val="CFD9E7"/>
                </a:solidFill>
                <a:latin typeface="HK Grotesk Light" panose="00000400000000000000"/>
                <a:ea typeface="HK Grotesk Light" panose="00000400000000000000"/>
                <a:cs typeface="HK Grotesk Light" panose="00000400000000000000"/>
                <a:sym typeface="HK Grotesk Light" panose="0000040000000000000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1450"/>
              <a:ext cx="11099800" cy="3098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800">
                  <a:solidFill>
                    <a:srgbClr val="CFD9E7"/>
                  </a:solidFill>
                  <a:latin typeface="Gilda Display" panose="02000000000000000000"/>
                  <a:ea typeface="Gilda Display" panose="02000000000000000000"/>
                  <a:cs typeface="Gilda Display" panose="02000000000000000000"/>
                  <a:sym typeface="Gilda Display" panose="02000000000000000000"/>
                </a:rPr>
                <a:t>Progressive Enhancement</a:t>
              </a:r>
              <a:endParaRPr lang="en-US" sz="8800">
                <a:solidFill>
                  <a:srgbClr val="CFD9E7"/>
                </a:solidFill>
                <a:latin typeface="Gilda Display" panose="02000000000000000000"/>
                <a:ea typeface="Gilda Display" panose="02000000000000000000"/>
                <a:cs typeface="Gilda Display" panose="02000000000000000000"/>
                <a:sym typeface="Gilda Display" panose="02000000000000000000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437773">
            <a:off x="13770320" y="-6241286"/>
            <a:ext cx="12640239" cy="11904807"/>
          </a:xfrm>
          <a:custGeom>
            <a:avLst/>
            <a:gdLst/>
            <a:ahLst/>
            <a:cxnLst/>
            <a:rect l="l" t="t" r="r" b="b"/>
            <a:pathLst>
              <a:path w="12640239" h="11904807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 rot="0">
            <a:off x="666750" y="666750"/>
            <a:ext cx="14077950" cy="2062247"/>
            <a:chOff x="0" y="0"/>
            <a:chExt cx="18770600" cy="2749662"/>
          </a:xfrm>
        </p:grpSpPr>
        <p:sp>
          <p:nvSpPr>
            <p:cNvPr id="4" name="TextBox 4"/>
            <p:cNvSpPr txBox="1"/>
            <p:nvPr/>
          </p:nvSpPr>
          <p:spPr>
            <a:xfrm>
              <a:off x="0" y="171450"/>
              <a:ext cx="187706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800">
                  <a:solidFill>
                    <a:srgbClr val="EDEDED"/>
                  </a:solidFill>
                  <a:latin typeface="Gilda Display" panose="02000000000000000000"/>
                  <a:ea typeface="Gilda Display" panose="02000000000000000000"/>
                  <a:cs typeface="Gilda Display" panose="02000000000000000000"/>
                  <a:sym typeface="Gilda Display" panose="02000000000000000000"/>
                </a:rPr>
                <a:t>System Features</a:t>
              </a:r>
              <a:endParaRPr lang="en-US" sz="8800">
                <a:solidFill>
                  <a:srgbClr val="EDEDED"/>
                </a:solidFill>
                <a:latin typeface="Gilda Display" panose="02000000000000000000"/>
                <a:ea typeface="Gilda Display" panose="02000000000000000000"/>
                <a:cs typeface="Gilda Display" panose="02000000000000000000"/>
                <a:sym typeface="Gilda Display" panose="0200000000000000000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130537"/>
              <a:ext cx="187706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EDEDED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Key components for your e-commerce platform</a:t>
              </a:r>
              <a:endParaRPr lang="en-US" sz="3000" b="1">
                <a:solidFill>
                  <a:srgbClr val="EDEDED"/>
                </a:solidFill>
                <a:latin typeface="HK Grotesk Bold" panose="00000800000000000000"/>
                <a:ea typeface="HK Grotesk Bold" panose="00000800000000000000"/>
                <a:cs typeface="HK Grotesk Bold" panose="00000800000000000000"/>
                <a:sym typeface="HK Grotesk Bold" panose="0000080000000000000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666750" y="5143500"/>
            <a:ext cx="5448300" cy="4060031"/>
            <a:chOff x="0" y="0"/>
            <a:chExt cx="7264400" cy="5413375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EDEDED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User Authentication</a:t>
              </a:r>
              <a:endParaRPr lang="en-US" sz="3000" b="1">
                <a:solidFill>
                  <a:srgbClr val="EDEDED"/>
                </a:solidFill>
                <a:latin typeface="HK Grotesk Bold" panose="00000800000000000000"/>
                <a:ea typeface="HK Grotesk Bold" panose="00000800000000000000"/>
                <a:cs typeface="HK Grotesk Bold" panose="00000800000000000000"/>
                <a:sym typeface="HK Grotesk Bold" panose="0000080000000000000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65225"/>
              <a:ext cx="7264400" cy="4248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55"/>
                </a:lnSpc>
              </a:pPr>
              <a:r>
                <a:rPr lang="en-US" sz="2810" u="none" strike="noStrike">
                  <a:solidFill>
                    <a:srgbClr val="EDEDED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Implement a secure user authentication system, allowing easy registration with validation, seamless login/logout functionality, and comprehensive user profile management for enhanced user experience.</a:t>
              </a:r>
              <a:endParaRPr lang="en-US" sz="2810" u="none" strike="noStrike">
                <a:solidFill>
                  <a:srgbClr val="EDEDED"/>
                </a:solidFill>
                <a:latin typeface="HK Grotesk Light" panose="00000400000000000000"/>
                <a:ea typeface="HK Grotesk Light" panose="00000400000000000000"/>
                <a:cs typeface="HK Grotesk Light" panose="00000400000000000000"/>
                <a:sym typeface="HK Grotesk Light" panose="0000040000000000000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6419850" y="5143500"/>
            <a:ext cx="5448300" cy="3145631"/>
            <a:chOff x="0" y="0"/>
            <a:chExt cx="7264400" cy="419417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EDEDED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Order History</a:t>
              </a:r>
              <a:endParaRPr lang="en-US" sz="3000" b="1" u="none" strike="noStrike">
                <a:solidFill>
                  <a:srgbClr val="EDEDED"/>
                </a:solidFill>
                <a:latin typeface="HK Grotesk Bold" panose="00000800000000000000"/>
                <a:ea typeface="HK Grotesk Bold" panose="00000800000000000000"/>
                <a:cs typeface="HK Grotesk Bold" panose="00000800000000000000"/>
                <a:sym typeface="HK Grotesk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65225"/>
              <a:ext cx="7264400" cy="3028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55"/>
                </a:lnSpc>
              </a:pPr>
              <a:r>
                <a:rPr lang="en-US" sz="2810" u="none" strike="noStrike">
                  <a:solidFill>
                    <a:srgbClr val="EDEDED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Track purchase history effortlessly, providing users with access to their previous orders, delivery statuses, and allowing them to reorder items conveniently.</a:t>
              </a:r>
              <a:endParaRPr lang="en-US" sz="2810" u="none" strike="noStrike">
                <a:solidFill>
                  <a:srgbClr val="EDEDED"/>
                </a:solidFill>
                <a:latin typeface="HK Grotesk Light" panose="00000400000000000000"/>
                <a:ea typeface="HK Grotesk Light" panose="00000400000000000000"/>
                <a:cs typeface="HK Grotesk Light" panose="00000400000000000000"/>
                <a:sym typeface="HK Grotesk Light" panose="00000400000000000000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12172950" y="5143500"/>
            <a:ext cx="5448300" cy="3602831"/>
            <a:chOff x="0" y="0"/>
            <a:chExt cx="7264400" cy="4803775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EDEDED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Product Management</a:t>
              </a:r>
              <a:endParaRPr lang="en-US" sz="3000" b="1" u="none" strike="noStrike">
                <a:solidFill>
                  <a:srgbClr val="EDEDED"/>
                </a:solidFill>
                <a:latin typeface="HK Grotesk Bold" panose="00000800000000000000"/>
                <a:ea typeface="HK Grotesk Bold" panose="00000800000000000000"/>
                <a:cs typeface="HK Grotesk Bold" panose="00000800000000000000"/>
                <a:sym typeface="HK Grotesk Bold" panose="00000800000000000000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165225"/>
              <a:ext cx="7264400" cy="3638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55"/>
                </a:lnSpc>
              </a:pPr>
              <a:r>
                <a:rPr lang="en-US" sz="2810" u="none" strike="noStrike">
                  <a:solidFill>
                    <a:srgbClr val="EDEDED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Manage products effectively with collection-based organization, dynamic galleries, and detailed product modals, ensuring customers can easily find and learn about the items they desire.</a:t>
              </a:r>
              <a:endParaRPr lang="en-US" sz="2810" u="none" strike="noStrike">
                <a:solidFill>
                  <a:srgbClr val="EDEDED"/>
                </a:solidFill>
                <a:latin typeface="HK Grotesk Light" panose="00000400000000000000"/>
                <a:ea typeface="HK Grotesk Light" panose="00000400000000000000"/>
                <a:cs typeface="HK Grotesk Light" panose="00000400000000000000"/>
                <a:sym typeface="HK Grotesk Light" panose="00000400000000000000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437773">
            <a:off x="13770320" y="-6241286"/>
            <a:ext cx="12640239" cy="11904807"/>
          </a:xfrm>
          <a:custGeom>
            <a:avLst/>
            <a:gdLst/>
            <a:ahLst/>
            <a:cxnLst/>
            <a:rect l="l" t="t" r="r" b="b"/>
            <a:pathLst>
              <a:path w="12640239" h="11904807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 rot="0">
            <a:off x="666750" y="666750"/>
            <a:ext cx="14077950" cy="2062247"/>
            <a:chOff x="0" y="0"/>
            <a:chExt cx="18770600" cy="2749662"/>
          </a:xfrm>
        </p:grpSpPr>
        <p:sp>
          <p:nvSpPr>
            <p:cNvPr id="4" name="TextBox 4"/>
            <p:cNvSpPr txBox="1"/>
            <p:nvPr/>
          </p:nvSpPr>
          <p:spPr>
            <a:xfrm>
              <a:off x="0" y="171450"/>
              <a:ext cx="187706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800">
                  <a:solidFill>
                    <a:srgbClr val="EDEDED"/>
                  </a:solidFill>
                  <a:latin typeface="Gilda Display" panose="02000000000000000000"/>
                  <a:ea typeface="Gilda Display" panose="02000000000000000000"/>
                  <a:cs typeface="Gilda Display" panose="02000000000000000000"/>
                  <a:sym typeface="Gilda Display" panose="02000000000000000000"/>
                </a:rPr>
                <a:t>UI/UX Design</a:t>
              </a:r>
              <a:endParaRPr lang="en-US" sz="8800">
                <a:solidFill>
                  <a:srgbClr val="EDEDED"/>
                </a:solidFill>
                <a:latin typeface="Gilda Display" panose="02000000000000000000"/>
                <a:ea typeface="Gilda Display" panose="02000000000000000000"/>
                <a:cs typeface="Gilda Display" panose="02000000000000000000"/>
                <a:sym typeface="Gilda Display" panose="0200000000000000000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130537"/>
              <a:ext cx="187706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EDEDED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Enhancing user experience and interaction</a:t>
              </a:r>
              <a:endParaRPr lang="en-US" sz="3000" b="1">
                <a:solidFill>
                  <a:srgbClr val="EDEDED"/>
                </a:solidFill>
                <a:latin typeface="HK Grotesk Bold" panose="00000800000000000000"/>
                <a:ea typeface="HK Grotesk Bold" panose="00000800000000000000"/>
                <a:cs typeface="HK Grotesk Bold" panose="00000800000000000000"/>
                <a:sym typeface="HK Grotesk Bold" panose="0000080000000000000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666750" y="5143500"/>
            <a:ext cx="5448300" cy="3659505"/>
            <a:chOff x="0" y="0"/>
            <a:chExt cx="7264400" cy="4879340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EDEDED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Parallax Section</a:t>
              </a:r>
              <a:endParaRPr lang="en-US" sz="3000" b="1">
                <a:solidFill>
                  <a:srgbClr val="EDEDED"/>
                </a:solidFill>
                <a:latin typeface="HK Grotesk Bold" panose="00000800000000000000"/>
                <a:ea typeface="HK Grotesk Bold" panose="00000800000000000000"/>
                <a:cs typeface="HK Grotesk Bold" panose="00000800000000000000"/>
                <a:sym typeface="HK Grotesk Bold" panose="0000080000000000000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55700"/>
              <a:ext cx="7264400" cy="372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05"/>
                </a:lnSpc>
              </a:pPr>
              <a:r>
                <a:rPr lang="en-US" sz="2850" u="none" strike="noStrike">
                  <a:solidFill>
                    <a:srgbClr val="EDEDED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The </a:t>
              </a:r>
              <a:r>
                <a:rPr lang="en-US" sz="2850" b="1" u="none" strike="noStrike">
                  <a:solidFill>
                    <a:srgbClr val="EDEDED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floating parallax hero section</a:t>
              </a:r>
              <a:r>
                <a:rPr lang="en-US" sz="2850" u="none" strike="noStrike">
                  <a:solidFill>
                    <a:srgbClr val="EDEDED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 creates an engaging first impression, drawing users into the site with dynamic visuals and smooth transitions that enhance navigation and exploration.</a:t>
              </a:r>
              <a:endParaRPr lang="en-US" sz="2850" u="none" strike="noStrike">
                <a:solidFill>
                  <a:srgbClr val="EDEDED"/>
                </a:solidFill>
                <a:latin typeface="HK Grotesk Light" panose="00000400000000000000"/>
                <a:ea typeface="HK Grotesk Light" panose="00000400000000000000"/>
                <a:cs typeface="HK Grotesk Light" panose="00000400000000000000"/>
                <a:sym typeface="HK Grotesk Light" panose="0000040000000000000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6419850" y="5143500"/>
            <a:ext cx="5448300" cy="3659505"/>
            <a:chOff x="0" y="0"/>
            <a:chExt cx="7264400" cy="487934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EDEDED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Shopping Cart</a:t>
              </a:r>
              <a:endParaRPr lang="en-US" sz="3000" b="1" u="none" strike="noStrike">
                <a:solidFill>
                  <a:srgbClr val="EDEDED"/>
                </a:solidFill>
                <a:latin typeface="HK Grotesk Bold" panose="00000800000000000000"/>
                <a:ea typeface="HK Grotesk Bold" panose="00000800000000000000"/>
                <a:cs typeface="HK Grotesk Bold" panose="00000800000000000000"/>
                <a:sym typeface="HK Grotesk Bold" panose="00000800000000000000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55700"/>
              <a:ext cx="7264400" cy="372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05"/>
                </a:lnSpc>
              </a:pPr>
              <a:r>
                <a:rPr lang="en-US" sz="2850" u="none" strike="noStrike">
                  <a:solidFill>
                    <a:srgbClr val="EDEDED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Users can </a:t>
              </a:r>
              <a:r>
                <a:rPr lang="en-US" sz="2850" b="1" u="none" strike="noStrike">
                  <a:solidFill>
                    <a:srgbClr val="EDEDED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easily manage</a:t>
              </a:r>
              <a:r>
                <a:rPr lang="en-US" sz="2850" u="none" strike="noStrike">
                  <a:solidFill>
                    <a:srgbClr val="EDEDED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 their shopping cart by adding or removing items, adjusting quantities, and witnessing real-time total calculations for a seamless purchasing experience.</a:t>
              </a:r>
              <a:endParaRPr lang="en-US" sz="2850" u="none" strike="noStrike">
                <a:solidFill>
                  <a:srgbClr val="EDEDED"/>
                </a:solidFill>
                <a:latin typeface="HK Grotesk Light" panose="00000400000000000000"/>
                <a:ea typeface="HK Grotesk Light" panose="00000400000000000000"/>
                <a:cs typeface="HK Grotesk Light" panose="00000400000000000000"/>
                <a:sym typeface="HK Grotesk Light" panose="00000400000000000000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12172950" y="5143500"/>
            <a:ext cx="5448300" cy="3659505"/>
            <a:chOff x="0" y="0"/>
            <a:chExt cx="7264400" cy="487934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EDEDED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Checkout System</a:t>
              </a:r>
              <a:endParaRPr lang="en-US" sz="3000" b="1" u="none" strike="noStrike">
                <a:solidFill>
                  <a:srgbClr val="EDEDED"/>
                </a:solidFill>
                <a:latin typeface="HK Grotesk Bold" panose="00000800000000000000"/>
                <a:ea typeface="HK Grotesk Bold" panose="00000800000000000000"/>
                <a:cs typeface="HK Grotesk Bold" panose="00000800000000000000"/>
                <a:sym typeface="HK Grotesk Bold" panose="00000800000000000000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155700"/>
              <a:ext cx="7264400" cy="372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05"/>
                </a:lnSpc>
              </a:pPr>
              <a:r>
                <a:rPr lang="en-US" sz="2850" u="none" strike="noStrike">
                  <a:solidFill>
                    <a:srgbClr val="EDEDED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The </a:t>
              </a:r>
              <a:r>
                <a:rPr lang="en-US" sz="2850" b="1" u="none" strike="noStrike">
                  <a:solidFill>
                    <a:srgbClr val="EDEDED"/>
                  </a:solidFill>
                  <a:latin typeface="HK Grotesk Bold" panose="00000800000000000000"/>
                  <a:ea typeface="HK Grotesk Bold" panose="00000800000000000000"/>
                  <a:cs typeface="HK Grotesk Bold" panose="00000800000000000000"/>
                  <a:sym typeface="HK Grotesk Bold" panose="00000800000000000000"/>
                </a:rPr>
                <a:t>checkout system</a:t>
              </a:r>
              <a:r>
                <a:rPr lang="en-US" sz="2850" u="none" strike="noStrike">
                  <a:solidFill>
                    <a:srgbClr val="EDEDED"/>
                  </a:solidFill>
                  <a:latin typeface="HK Grotesk Light" panose="00000400000000000000"/>
                  <a:ea typeface="HK Grotesk Light" panose="00000400000000000000"/>
                  <a:cs typeface="HK Grotesk Light" panose="00000400000000000000"/>
                  <a:sym typeface="HK Grotesk Light" panose="00000400000000000000"/>
                </a:rPr>
                <a:t> supports multiple payment methods, ensuring secure transactions, while providing order confirmation and maintaining an organized order history for user convenience.</a:t>
              </a:r>
              <a:endParaRPr lang="en-US" sz="2850" u="none" strike="noStrike">
                <a:solidFill>
                  <a:srgbClr val="EDEDED"/>
                </a:solidFill>
                <a:latin typeface="HK Grotesk Light" panose="00000400000000000000"/>
                <a:ea typeface="HK Grotesk Light" panose="00000400000000000000"/>
                <a:cs typeface="HK Grotesk Light" panose="00000400000000000000"/>
                <a:sym typeface="HK Grotesk Light" panose="00000400000000000000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1506200" y="0"/>
            <a:ext cx="6781800" cy="10287000"/>
            <a:chOff x="0" y="0"/>
            <a:chExt cx="178615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6153" cy="2709333"/>
            </a:xfrm>
            <a:custGeom>
              <a:avLst/>
              <a:gdLst/>
              <a:ahLst/>
              <a:cxnLst/>
              <a:rect l="l" t="t" r="r" b="b"/>
              <a:pathLst>
                <a:path w="1786153" h="2709333">
                  <a:moveTo>
                    <a:pt x="0" y="0"/>
                  </a:moveTo>
                  <a:lnTo>
                    <a:pt x="1786153" y="0"/>
                  </a:lnTo>
                  <a:lnTo>
                    <a:pt x="178615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786153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2172950" y="666750"/>
            <a:ext cx="5448300" cy="8953500"/>
            <a:chOff x="0" y="0"/>
            <a:chExt cx="1406084" cy="23106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06084" cy="2310698"/>
            </a:xfrm>
            <a:custGeom>
              <a:avLst/>
              <a:gdLst/>
              <a:ahLst/>
              <a:cxnLst/>
              <a:rect l="l" t="t" r="r" b="b"/>
              <a:pathLst>
                <a:path w="1406084" h="2310698">
                  <a:moveTo>
                    <a:pt x="974733" y="348724"/>
                  </a:moveTo>
                  <a:lnTo>
                    <a:pt x="974733" y="310035"/>
                  </a:lnTo>
                  <a:cubicBezTo>
                    <a:pt x="974733" y="286046"/>
                    <a:pt x="965203" y="263040"/>
                    <a:pt x="948241" y="246078"/>
                  </a:cubicBezTo>
                  <a:cubicBezTo>
                    <a:pt x="931278" y="229116"/>
                    <a:pt x="908272" y="219586"/>
                    <a:pt x="884283" y="219587"/>
                  </a:cubicBezTo>
                  <a:lnTo>
                    <a:pt x="660890" y="219587"/>
                  </a:lnTo>
                  <a:cubicBezTo>
                    <a:pt x="610936" y="219587"/>
                    <a:pt x="570441" y="179091"/>
                    <a:pt x="570441" y="129137"/>
                  </a:cubicBezTo>
                  <a:lnTo>
                    <a:pt x="570441" y="90448"/>
                  </a:lnTo>
                  <a:cubicBezTo>
                    <a:pt x="570441" y="66459"/>
                    <a:pt x="560911" y="43453"/>
                    <a:pt x="543948" y="26490"/>
                  </a:cubicBezTo>
                  <a:cubicBezTo>
                    <a:pt x="526985" y="9528"/>
                    <a:pt x="503978" y="-1"/>
                    <a:pt x="479989" y="0"/>
                  </a:cubicBezTo>
                  <a:lnTo>
                    <a:pt x="90448" y="0"/>
                  </a:lnTo>
                  <a:cubicBezTo>
                    <a:pt x="40495" y="0"/>
                    <a:pt x="0" y="40495"/>
                    <a:pt x="0" y="90448"/>
                  </a:cubicBezTo>
                  <a:lnTo>
                    <a:pt x="0" y="2220250"/>
                  </a:lnTo>
                  <a:cubicBezTo>
                    <a:pt x="0" y="2270203"/>
                    <a:pt x="40495" y="2310698"/>
                    <a:pt x="90448" y="2310698"/>
                  </a:cubicBezTo>
                  <a:lnTo>
                    <a:pt x="1315636" y="2310698"/>
                  </a:lnTo>
                  <a:cubicBezTo>
                    <a:pt x="1365589" y="2310698"/>
                    <a:pt x="1406084" y="2270203"/>
                    <a:pt x="1406084" y="2220250"/>
                  </a:cubicBezTo>
                  <a:lnTo>
                    <a:pt x="1406084" y="529620"/>
                  </a:lnTo>
                  <a:cubicBezTo>
                    <a:pt x="1406084" y="479667"/>
                    <a:pt x="1365589" y="439172"/>
                    <a:pt x="1315636" y="439172"/>
                  </a:cubicBezTo>
                  <a:lnTo>
                    <a:pt x="1065181" y="439172"/>
                  </a:lnTo>
                  <a:cubicBezTo>
                    <a:pt x="1015228" y="439172"/>
                    <a:pt x="974733" y="398677"/>
                    <a:pt x="974733" y="348724"/>
                  </a:cubicBezTo>
                  <a:close/>
                </a:path>
              </a:pathLst>
            </a:custGeom>
            <a:blipFill>
              <a:blip r:embed="rId1"/>
              <a:stretch>
                <a:fillRect t="-290" b="-29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0">
            <a:off x="14600392" y="666750"/>
            <a:ext cx="1371371" cy="653784"/>
            <a:chOff x="0" y="0"/>
            <a:chExt cx="361184" cy="1721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1184" cy="172190"/>
            </a:xfrm>
            <a:custGeom>
              <a:avLst/>
              <a:gdLst/>
              <a:ahLst/>
              <a:cxnLst/>
              <a:rect l="l" t="t" r="r" b="b"/>
              <a:pathLst>
                <a:path w="361184" h="172190">
                  <a:moveTo>
                    <a:pt x="86095" y="0"/>
                  </a:moveTo>
                  <a:lnTo>
                    <a:pt x="275089" y="0"/>
                  </a:lnTo>
                  <a:cubicBezTo>
                    <a:pt x="322638" y="0"/>
                    <a:pt x="361184" y="38546"/>
                    <a:pt x="361184" y="86095"/>
                  </a:cubicBezTo>
                  <a:lnTo>
                    <a:pt x="361184" y="86095"/>
                  </a:lnTo>
                  <a:cubicBezTo>
                    <a:pt x="361184" y="108929"/>
                    <a:pt x="352113" y="130828"/>
                    <a:pt x="335967" y="146973"/>
                  </a:cubicBezTo>
                  <a:cubicBezTo>
                    <a:pt x="319821" y="163119"/>
                    <a:pt x="297923" y="172190"/>
                    <a:pt x="275089" y="172190"/>
                  </a:cubicBezTo>
                  <a:lnTo>
                    <a:pt x="86095" y="172190"/>
                  </a:lnTo>
                  <a:cubicBezTo>
                    <a:pt x="38546" y="172190"/>
                    <a:pt x="0" y="133644"/>
                    <a:pt x="0" y="86095"/>
                  </a:cubicBezTo>
                  <a:lnTo>
                    <a:pt x="0" y="86095"/>
                  </a:lnTo>
                  <a:cubicBezTo>
                    <a:pt x="0" y="38546"/>
                    <a:pt x="38546" y="0"/>
                    <a:pt x="86095" y="0"/>
                  </a:cubicBezTo>
                  <a:close/>
                </a:path>
              </a:pathLst>
            </a:custGeom>
            <a:solidFill>
              <a:srgbClr val="D1D5DB"/>
            </a:solidFill>
            <a:ln cap="rnd">
              <a:noFill/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361184" cy="229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16182975" y="666750"/>
            <a:ext cx="1438275" cy="1487929"/>
            <a:chOff x="0" y="0"/>
            <a:chExt cx="378805" cy="39188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8805" cy="391882"/>
            </a:xfrm>
            <a:custGeom>
              <a:avLst/>
              <a:gdLst/>
              <a:ahLst/>
              <a:cxnLst/>
              <a:rect l="l" t="t" r="r" b="b"/>
              <a:pathLst>
                <a:path w="378805" h="391882">
                  <a:moveTo>
                    <a:pt x="123804" y="0"/>
                  </a:moveTo>
                  <a:lnTo>
                    <a:pt x="255001" y="0"/>
                  </a:lnTo>
                  <a:cubicBezTo>
                    <a:pt x="323376" y="0"/>
                    <a:pt x="378805" y="55429"/>
                    <a:pt x="378805" y="123804"/>
                  </a:cubicBezTo>
                  <a:lnTo>
                    <a:pt x="378805" y="268078"/>
                  </a:lnTo>
                  <a:cubicBezTo>
                    <a:pt x="378805" y="336453"/>
                    <a:pt x="323376" y="391882"/>
                    <a:pt x="255001" y="391882"/>
                  </a:cubicBezTo>
                  <a:lnTo>
                    <a:pt x="123804" y="391882"/>
                  </a:lnTo>
                  <a:cubicBezTo>
                    <a:pt x="90969" y="391882"/>
                    <a:pt x="59479" y="378839"/>
                    <a:pt x="36261" y="355621"/>
                  </a:cubicBezTo>
                  <a:cubicBezTo>
                    <a:pt x="13044" y="332403"/>
                    <a:pt x="0" y="300913"/>
                    <a:pt x="0" y="268078"/>
                  </a:cubicBezTo>
                  <a:lnTo>
                    <a:pt x="0" y="123804"/>
                  </a:lnTo>
                  <a:cubicBezTo>
                    <a:pt x="0" y="90969"/>
                    <a:pt x="13044" y="59479"/>
                    <a:pt x="36261" y="36261"/>
                  </a:cubicBezTo>
                  <a:cubicBezTo>
                    <a:pt x="59479" y="13044"/>
                    <a:pt x="90969" y="0"/>
                    <a:pt x="123804" y="0"/>
                  </a:cubicBezTo>
                  <a:close/>
                </a:path>
              </a:pathLst>
            </a:custGeom>
            <a:solidFill>
              <a:srgbClr val="6EE7B7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378805" cy="4490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16535010" y="993642"/>
            <a:ext cx="734205" cy="719521"/>
            <a:chOff x="0" y="0"/>
            <a:chExt cx="635000" cy="6223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" cy="622300"/>
            </a:xfrm>
            <a:custGeom>
              <a:avLst/>
              <a:gdLst/>
              <a:ahLst/>
              <a:cxnLst/>
              <a:rect l="l" t="t" r="r" b="b"/>
              <a:pathLst>
                <a:path w="635000" h="6223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374151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66750" y="533400"/>
            <a:ext cx="9763125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6600">
                <a:solidFill>
                  <a:srgbClr val="3B82F6"/>
                </a:solidFill>
                <a:latin typeface="ITC Motter Corpus Semicondensed" panose="04020A05040802020202"/>
                <a:ea typeface="ITC Motter Corpus Semicondensed" panose="04020A05040802020202"/>
                <a:cs typeface="ITC Motter Corpus Semicondensed" panose="04020A05040802020202"/>
                <a:sym typeface="ITC Motter Corpus Semicondensed" panose="04020A05040802020202"/>
              </a:rPr>
              <a:t>More Features</a:t>
            </a:r>
            <a:endParaRPr lang="en-US" sz="6600">
              <a:solidFill>
                <a:srgbClr val="3B82F6"/>
              </a:solidFill>
              <a:latin typeface="ITC Motter Corpus Semicondensed" panose="04020A05040802020202"/>
              <a:ea typeface="ITC Motter Corpus Semicondensed" panose="04020A05040802020202"/>
              <a:cs typeface="ITC Motter Corpus Semicondensed" panose="04020A05040802020202"/>
              <a:sym typeface="ITC Motter Corpus Semicondensed" panose="04020A05040802020202"/>
            </a:endParaRPr>
          </a:p>
        </p:txBody>
      </p:sp>
      <p:grpSp>
        <p:nvGrpSpPr>
          <p:cNvPr id="17" name="Group 17"/>
          <p:cNvGrpSpPr/>
          <p:nvPr/>
        </p:nvGrpSpPr>
        <p:grpSpPr>
          <a:xfrm rot="0">
            <a:off x="666750" y="2457436"/>
            <a:ext cx="8324850" cy="1009650"/>
            <a:chOff x="0" y="0"/>
            <a:chExt cx="11099800" cy="1346200"/>
          </a:xfrm>
        </p:grpSpPr>
        <p:sp>
          <p:nvSpPr>
            <p:cNvPr id="18" name="TextBox 18"/>
            <p:cNvSpPr txBox="1"/>
            <p:nvPr/>
          </p:nvSpPr>
          <p:spPr>
            <a:xfrm>
              <a:off x="0" y="811530"/>
              <a:ext cx="110998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</a:pPr>
              <a:r>
                <a:rPr lang="en-US" sz="2400">
                  <a:solidFill>
                    <a:srgbClr val="D1D5DB"/>
                  </a:solidFill>
                  <a:latin typeface="Rubik"/>
                  <a:ea typeface="Rubik"/>
                  <a:cs typeface="Rubik"/>
                  <a:sym typeface="Rubik"/>
                </a:rPr>
                <a:t>Create a more engaging user experience visually.</a:t>
              </a:r>
              <a:endParaRPr lang="en-US" sz="2400">
                <a:solidFill>
                  <a:srgbClr val="D1D5DB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10998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</a:pPr>
              <a:r>
                <a:rPr lang="en-US" sz="2400" b="1">
                  <a:solidFill>
                    <a:srgbClr val="6EE7B7"/>
                  </a:solidFill>
                  <a:latin typeface="Rubik Bold" panose="00000800000000000000"/>
                  <a:ea typeface="Rubik Bold" panose="00000800000000000000"/>
                  <a:cs typeface="Rubik Bold" panose="00000800000000000000"/>
                  <a:sym typeface="Rubik Bold" panose="00000800000000000000"/>
                </a:rPr>
                <a:t>FLOATING ANIMATIONS</a:t>
              </a:r>
              <a:endParaRPr lang="en-US" sz="2400" b="1">
                <a:solidFill>
                  <a:srgbClr val="6EE7B7"/>
                </a:solidFill>
                <a:latin typeface="Rubik Bold" panose="00000800000000000000"/>
                <a:ea typeface="Rubik Bold" panose="00000800000000000000"/>
                <a:cs typeface="Rubik Bold" panose="00000800000000000000"/>
                <a:sym typeface="Rubik Bold" panose="00000800000000000000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666750" y="6048348"/>
            <a:ext cx="8324850" cy="1009650"/>
            <a:chOff x="0" y="0"/>
            <a:chExt cx="11099800" cy="1346200"/>
          </a:xfrm>
        </p:grpSpPr>
        <p:sp>
          <p:nvSpPr>
            <p:cNvPr id="21" name="TextBox 21"/>
            <p:cNvSpPr txBox="1"/>
            <p:nvPr/>
          </p:nvSpPr>
          <p:spPr>
            <a:xfrm>
              <a:off x="0" y="811530"/>
              <a:ext cx="110998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</a:pPr>
              <a:r>
                <a:rPr lang="en-US" sz="2400">
                  <a:solidFill>
                    <a:srgbClr val="D1D5DB"/>
                  </a:solidFill>
                  <a:latin typeface="Rubik"/>
                  <a:ea typeface="Rubik"/>
                  <a:cs typeface="Rubik"/>
                  <a:sym typeface="Rubik"/>
                </a:rPr>
                <a:t>Effortless access to content on mobile devices.</a:t>
              </a:r>
              <a:endParaRPr lang="en-US" sz="2400">
                <a:solidFill>
                  <a:srgbClr val="D1D5DB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10998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6EE7B7"/>
                  </a:solidFill>
                  <a:latin typeface="Rubik Bold" panose="00000800000000000000"/>
                  <a:ea typeface="Rubik Bold" panose="00000800000000000000"/>
                  <a:cs typeface="Rubik Bold" panose="00000800000000000000"/>
                  <a:sym typeface="Rubik Bold" panose="00000800000000000000"/>
                </a:rPr>
                <a:t>MOBILE SIDEBAR NAVIGATION</a:t>
              </a:r>
              <a:endParaRPr lang="en-US" sz="2400" b="1" u="none" strike="noStrike">
                <a:solidFill>
                  <a:srgbClr val="6EE7B7"/>
                </a:solidFill>
                <a:latin typeface="Rubik Bold" panose="00000800000000000000"/>
                <a:ea typeface="Rubik Bold" panose="00000800000000000000"/>
                <a:cs typeface="Rubik Bold" panose="00000800000000000000"/>
                <a:sym typeface="Rubik Bold" panose="00000800000000000000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666750" y="4248136"/>
            <a:ext cx="8324850" cy="1009650"/>
            <a:chOff x="0" y="0"/>
            <a:chExt cx="11099800" cy="1346200"/>
          </a:xfrm>
        </p:grpSpPr>
        <p:sp>
          <p:nvSpPr>
            <p:cNvPr id="24" name="TextBox 24"/>
            <p:cNvSpPr txBox="1"/>
            <p:nvPr/>
          </p:nvSpPr>
          <p:spPr>
            <a:xfrm>
              <a:off x="0" y="811530"/>
              <a:ext cx="110998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</a:pPr>
              <a:r>
                <a:rPr lang="en-US" sz="2400">
                  <a:solidFill>
                    <a:srgbClr val="D1D5DB"/>
                  </a:solidFill>
                  <a:latin typeface="Rubik"/>
                  <a:ea typeface="Rubik"/>
                  <a:cs typeface="Rubik"/>
                  <a:sym typeface="Rubik"/>
                </a:rPr>
                <a:t>Ensure user inputs are accurate and reliable.</a:t>
              </a:r>
              <a:endParaRPr lang="en-US" sz="2400">
                <a:solidFill>
                  <a:srgbClr val="D1D5DB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110998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6EE7B7"/>
                  </a:solidFill>
                  <a:latin typeface="Rubik Bold" panose="00000800000000000000"/>
                  <a:ea typeface="Rubik Bold" panose="00000800000000000000"/>
                  <a:cs typeface="Rubik Bold" panose="00000800000000000000"/>
                  <a:sym typeface="Rubik Bold" panose="00000800000000000000"/>
                </a:rPr>
                <a:t>FORM VALIDATION</a:t>
              </a:r>
              <a:endParaRPr lang="en-US" sz="2400" b="1" u="none" strike="noStrike">
                <a:solidFill>
                  <a:srgbClr val="6EE7B7"/>
                </a:solidFill>
                <a:latin typeface="Rubik Bold" panose="00000800000000000000"/>
                <a:ea typeface="Rubik Bold" panose="00000800000000000000"/>
                <a:cs typeface="Rubik Bold" panose="00000800000000000000"/>
                <a:sym typeface="Rubik Bold" panose="00000800000000000000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327917" y="-61674"/>
            <a:ext cx="11960083" cy="11041445"/>
            <a:chOff x="0" y="0"/>
            <a:chExt cx="1242617" cy="11471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42617" cy="1147174"/>
            </a:xfrm>
            <a:custGeom>
              <a:avLst/>
              <a:gdLst/>
              <a:ahLst/>
              <a:cxnLst/>
              <a:rect l="l" t="t" r="r" b="b"/>
              <a:pathLst>
                <a:path w="1242617" h="1147174">
                  <a:moveTo>
                    <a:pt x="45312" y="0"/>
                  </a:moveTo>
                  <a:lnTo>
                    <a:pt x="1197306" y="0"/>
                  </a:lnTo>
                  <a:cubicBezTo>
                    <a:pt x="1222331" y="0"/>
                    <a:pt x="1242617" y="20287"/>
                    <a:pt x="1242617" y="45312"/>
                  </a:cubicBezTo>
                  <a:lnTo>
                    <a:pt x="1242617" y="1101862"/>
                  </a:lnTo>
                  <a:cubicBezTo>
                    <a:pt x="1242617" y="1126887"/>
                    <a:pt x="1222331" y="1147174"/>
                    <a:pt x="1197306" y="1147174"/>
                  </a:cubicBezTo>
                  <a:lnTo>
                    <a:pt x="45312" y="1147174"/>
                  </a:lnTo>
                  <a:cubicBezTo>
                    <a:pt x="20287" y="1147174"/>
                    <a:pt x="0" y="1126887"/>
                    <a:pt x="0" y="1101862"/>
                  </a:cubicBezTo>
                  <a:lnTo>
                    <a:pt x="0" y="45312"/>
                  </a:lnTo>
                  <a:cubicBezTo>
                    <a:pt x="0" y="20287"/>
                    <a:pt x="20287" y="0"/>
                    <a:pt x="45312" y="0"/>
                  </a:cubicBezTo>
                  <a:close/>
                </a:path>
              </a:pathLst>
            </a:custGeom>
            <a:blipFill>
              <a:blip r:embed="rId1"/>
              <a:stretch>
                <a:fillRect t="-8551" b="-855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-61674"/>
            <a:ext cx="6327917" cy="10399024"/>
            <a:chOff x="0" y="0"/>
            <a:chExt cx="1406084" cy="231069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06084" cy="2310698"/>
            </a:xfrm>
            <a:custGeom>
              <a:avLst/>
              <a:gdLst/>
              <a:ahLst/>
              <a:cxnLst/>
              <a:rect l="l" t="t" r="r" b="b"/>
              <a:pathLst>
                <a:path w="1406084" h="2310698">
                  <a:moveTo>
                    <a:pt x="974733" y="348724"/>
                  </a:moveTo>
                  <a:lnTo>
                    <a:pt x="974733" y="310035"/>
                  </a:lnTo>
                  <a:cubicBezTo>
                    <a:pt x="974733" y="286046"/>
                    <a:pt x="965203" y="263040"/>
                    <a:pt x="948241" y="246078"/>
                  </a:cubicBezTo>
                  <a:cubicBezTo>
                    <a:pt x="931278" y="229116"/>
                    <a:pt x="908272" y="219586"/>
                    <a:pt x="884283" y="219587"/>
                  </a:cubicBezTo>
                  <a:lnTo>
                    <a:pt x="660890" y="219587"/>
                  </a:lnTo>
                  <a:cubicBezTo>
                    <a:pt x="610936" y="219587"/>
                    <a:pt x="570441" y="179091"/>
                    <a:pt x="570441" y="129137"/>
                  </a:cubicBezTo>
                  <a:lnTo>
                    <a:pt x="570441" y="90448"/>
                  </a:lnTo>
                  <a:cubicBezTo>
                    <a:pt x="570441" y="66459"/>
                    <a:pt x="560911" y="43453"/>
                    <a:pt x="543948" y="26490"/>
                  </a:cubicBezTo>
                  <a:cubicBezTo>
                    <a:pt x="526985" y="9528"/>
                    <a:pt x="503978" y="-1"/>
                    <a:pt x="479989" y="0"/>
                  </a:cubicBezTo>
                  <a:lnTo>
                    <a:pt x="90448" y="0"/>
                  </a:lnTo>
                  <a:cubicBezTo>
                    <a:pt x="40495" y="0"/>
                    <a:pt x="0" y="40495"/>
                    <a:pt x="0" y="90448"/>
                  </a:cubicBezTo>
                  <a:lnTo>
                    <a:pt x="0" y="2220250"/>
                  </a:lnTo>
                  <a:cubicBezTo>
                    <a:pt x="0" y="2270203"/>
                    <a:pt x="40495" y="2310698"/>
                    <a:pt x="90448" y="2310698"/>
                  </a:cubicBezTo>
                  <a:lnTo>
                    <a:pt x="1315636" y="2310698"/>
                  </a:lnTo>
                  <a:cubicBezTo>
                    <a:pt x="1365589" y="2310698"/>
                    <a:pt x="1406084" y="2270203"/>
                    <a:pt x="1406084" y="2220250"/>
                  </a:cubicBezTo>
                  <a:lnTo>
                    <a:pt x="1406084" y="529620"/>
                  </a:lnTo>
                  <a:cubicBezTo>
                    <a:pt x="1406084" y="479667"/>
                    <a:pt x="1365589" y="439172"/>
                    <a:pt x="1315636" y="439172"/>
                  </a:cubicBezTo>
                  <a:lnTo>
                    <a:pt x="1065181" y="439172"/>
                  </a:lnTo>
                  <a:cubicBezTo>
                    <a:pt x="1015228" y="439172"/>
                    <a:pt x="974733" y="398677"/>
                    <a:pt x="974733" y="348724"/>
                  </a:cubicBezTo>
                  <a:close/>
                </a:path>
              </a:pathLst>
            </a:custGeom>
            <a:blipFill>
              <a:blip r:embed="rId2"/>
              <a:stretch>
                <a:fillRect t="-290" b="-29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5773" y="3888151"/>
            <a:ext cx="16836454" cy="1961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10"/>
              </a:lnSpc>
              <a:spcBef>
                <a:spcPct val="0"/>
              </a:spcBef>
            </a:pPr>
            <a:r>
              <a:rPr lang="en-US" sz="12840" b="1" i="1">
                <a:solidFill>
                  <a:srgbClr val="E0D4C3"/>
                </a:solidFill>
                <a:latin typeface="HK Grotesk Bold Italics" panose="00000800000000000000"/>
                <a:ea typeface="HK Grotesk Bold Italics" panose="00000800000000000000"/>
                <a:cs typeface="HK Grotesk Bold Italics" panose="00000800000000000000"/>
                <a:sym typeface="HK Grotesk Bold Italics" panose="00000800000000000000"/>
              </a:rPr>
              <a:t>How the website works</a:t>
            </a:r>
            <a:endParaRPr lang="en-US" sz="12840" b="1" i="1">
              <a:solidFill>
                <a:srgbClr val="E0D4C3"/>
              </a:solidFill>
              <a:latin typeface="HK Grotesk Bold Italics" panose="00000800000000000000"/>
              <a:ea typeface="HK Grotesk Bold Italics" panose="00000800000000000000"/>
              <a:cs typeface="HK Grotesk Bold Italics" panose="00000800000000000000"/>
              <a:sym typeface="HK Grotesk Bold Italics" panose="0000080000000000000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0655" y="0"/>
            <a:ext cx="18738655" cy="10287000"/>
          </a:xfrm>
          <a:custGeom>
            <a:avLst/>
            <a:gdLst/>
            <a:ahLst/>
            <a:cxnLst/>
            <a:rect l="l" t="t" r="r" b="b"/>
            <a:pathLst>
              <a:path w="18738655" h="10287000">
                <a:moveTo>
                  <a:pt x="0" y="0"/>
                </a:moveTo>
                <a:lnTo>
                  <a:pt x="18738655" y="0"/>
                </a:lnTo>
                <a:lnTo>
                  <a:pt x="1873865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3632" t="-2911" b="-2911"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460462" cy="10287000"/>
          </a:xfrm>
          <a:custGeom>
            <a:avLst/>
            <a:gdLst/>
            <a:ahLst/>
            <a:cxnLst/>
            <a:rect l="l" t="t" r="r" b="b"/>
            <a:pathLst>
              <a:path w="18460462" h="10287000">
                <a:moveTo>
                  <a:pt x="0" y="0"/>
                </a:moveTo>
                <a:lnTo>
                  <a:pt x="18460462" y="0"/>
                </a:lnTo>
                <a:lnTo>
                  <a:pt x="1846046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5309" r="-5309"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9291" y="-933022"/>
            <a:ext cx="18667291" cy="11023247"/>
          </a:xfrm>
          <a:custGeom>
            <a:avLst/>
            <a:gdLst/>
            <a:ahLst/>
            <a:cxnLst/>
            <a:rect l="l" t="t" r="r" b="b"/>
            <a:pathLst>
              <a:path w="18667291" h="11023247">
                <a:moveTo>
                  <a:pt x="0" y="0"/>
                </a:moveTo>
                <a:lnTo>
                  <a:pt x="18667291" y="0"/>
                </a:lnTo>
                <a:lnTo>
                  <a:pt x="18667291" y="11023247"/>
                </a:lnTo>
                <a:lnTo>
                  <a:pt x="0" y="1102324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372" t="-12784" b="-12784"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5189" y="0"/>
            <a:ext cx="15754351" cy="10287000"/>
          </a:xfrm>
          <a:custGeom>
            <a:avLst/>
            <a:gdLst/>
            <a:ahLst/>
            <a:cxnLst/>
            <a:rect l="l" t="t" r="r" b="b"/>
            <a:pathLst>
              <a:path w="15754351" h="10287000">
                <a:moveTo>
                  <a:pt x="0" y="0"/>
                </a:moveTo>
                <a:lnTo>
                  <a:pt x="15754351" y="0"/>
                </a:lnTo>
                <a:lnTo>
                  <a:pt x="1575435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4685" b="-3092"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07885" y="1492135"/>
            <a:ext cx="2272613" cy="6829844"/>
          </a:xfrm>
          <a:custGeom>
            <a:avLst/>
            <a:gdLst/>
            <a:ahLst/>
            <a:cxnLst/>
            <a:rect l="l" t="t" r="r" b="b"/>
            <a:pathLst>
              <a:path w="2272613" h="6829844">
                <a:moveTo>
                  <a:pt x="0" y="0"/>
                </a:moveTo>
                <a:lnTo>
                  <a:pt x="2272613" y="0"/>
                </a:lnTo>
                <a:lnTo>
                  <a:pt x="2272613" y="6829844"/>
                </a:lnTo>
                <a:lnTo>
                  <a:pt x="0" y="682984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3719" r="-371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250190" y="1492135"/>
            <a:ext cx="7584955" cy="6829844"/>
          </a:xfrm>
          <a:custGeom>
            <a:avLst/>
            <a:gdLst/>
            <a:ahLst/>
            <a:cxnLst/>
            <a:rect l="l" t="t" r="r" b="b"/>
            <a:pathLst>
              <a:path w="7584955" h="6829844">
                <a:moveTo>
                  <a:pt x="0" y="0"/>
                </a:moveTo>
                <a:lnTo>
                  <a:pt x="7584955" y="0"/>
                </a:lnTo>
                <a:lnTo>
                  <a:pt x="7584955" y="6829844"/>
                </a:lnTo>
                <a:lnTo>
                  <a:pt x="0" y="6829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868" b="-986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482141" y="1728578"/>
            <a:ext cx="3777159" cy="6356958"/>
          </a:xfrm>
          <a:custGeom>
            <a:avLst/>
            <a:gdLst/>
            <a:ahLst/>
            <a:cxnLst/>
            <a:rect l="l" t="t" r="r" b="b"/>
            <a:pathLst>
              <a:path w="3777159" h="6356958">
                <a:moveTo>
                  <a:pt x="0" y="0"/>
                </a:moveTo>
                <a:lnTo>
                  <a:pt x="3777159" y="0"/>
                </a:lnTo>
                <a:lnTo>
                  <a:pt x="37771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272" b="-5272"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5679" y="2129058"/>
            <a:ext cx="7680107" cy="7267394"/>
          </a:xfrm>
          <a:custGeom>
            <a:avLst/>
            <a:gdLst/>
            <a:ahLst/>
            <a:cxnLst/>
            <a:rect l="l" t="t" r="r" b="b"/>
            <a:pathLst>
              <a:path w="7680107" h="7267394">
                <a:moveTo>
                  <a:pt x="0" y="0"/>
                </a:moveTo>
                <a:lnTo>
                  <a:pt x="7680108" y="0"/>
                </a:lnTo>
                <a:lnTo>
                  <a:pt x="7680108" y="7267394"/>
                </a:lnTo>
                <a:lnTo>
                  <a:pt x="0" y="726739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0271" r="-1027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393179" y="2782090"/>
            <a:ext cx="8148689" cy="6320313"/>
          </a:xfrm>
          <a:custGeom>
            <a:avLst/>
            <a:gdLst/>
            <a:ahLst/>
            <a:cxnLst/>
            <a:rect l="l" t="t" r="r" b="b"/>
            <a:pathLst>
              <a:path w="8148689" h="6320313">
                <a:moveTo>
                  <a:pt x="0" y="0"/>
                </a:moveTo>
                <a:lnTo>
                  <a:pt x="8148690" y="0"/>
                </a:lnTo>
                <a:lnTo>
                  <a:pt x="8148690" y="6320313"/>
                </a:lnTo>
                <a:lnTo>
                  <a:pt x="0" y="6320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700" t="-15676" r="-32159"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63687" y="1793687"/>
            <a:ext cx="12893071" cy="6922351"/>
          </a:xfrm>
          <a:custGeom>
            <a:avLst/>
            <a:gdLst/>
            <a:ahLst/>
            <a:cxnLst/>
            <a:rect l="l" t="t" r="r" b="b"/>
            <a:pathLst>
              <a:path w="12893071" h="6922351">
                <a:moveTo>
                  <a:pt x="0" y="0"/>
                </a:moveTo>
                <a:lnTo>
                  <a:pt x="12893071" y="0"/>
                </a:lnTo>
                <a:lnTo>
                  <a:pt x="12893071" y="6922351"/>
                </a:lnTo>
                <a:lnTo>
                  <a:pt x="0" y="692235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265" b="-1241"/>
            </a:stretch>
          </a:blip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81102" y="0"/>
            <a:ext cx="14484674" cy="10165746"/>
          </a:xfrm>
          <a:custGeom>
            <a:avLst/>
            <a:gdLst/>
            <a:ahLst/>
            <a:cxnLst/>
            <a:rect l="l" t="t" r="r" b="b"/>
            <a:pathLst>
              <a:path w="14484674" h="10165746">
                <a:moveTo>
                  <a:pt x="0" y="0"/>
                </a:moveTo>
                <a:lnTo>
                  <a:pt x="14484674" y="0"/>
                </a:lnTo>
                <a:lnTo>
                  <a:pt x="14484674" y="10165746"/>
                </a:lnTo>
                <a:lnTo>
                  <a:pt x="0" y="1016574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740" r="-1740" b="-77"/>
            </a:stretch>
          </a:blipFill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45041" y="254255"/>
            <a:ext cx="12330364" cy="9778490"/>
          </a:xfrm>
          <a:custGeom>
            <a:avLst/>
            <a:gdLst/>
            <a:ahLst/>
            <a:cxnLst/>
            <a:rect l="l" t="t" r="r" b="b"/>
            <a:pathLst>
              <a:path w="12330364" h="9778490">
                <a:moveTo>
                  <a:pt x="0" y="0"/>
                </a:moveTo>
                <a:lnTo>
                  <a:pt x="12330363" y="0"/>
                </a:lnTo>
                <a:lnTo>
                  <a:pt x="12330363" y="9778490"/>
                </a:lnTo>
                <a:lnTo>
                  <a:pt x="0" y="977849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907" r="-547" b="-9907"/>
            </a:stretch>
          </a:blip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25910" y="3196909"/>
            <a:ext cx="11204377" cy="3518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60"/>
              </a:lnSpc>
            </a:pPr>
            <a:r>
              <a:rPr lang="en-US" sz="20470" i="1" u="sng">
                <a:solidFill>
                  <a:srgbClr val="E0D4C3">
                    <a:alpha val="82745"/>
                  </a:srgbClr>
                </a:solidFill>
                <a:latin typeface="Canva Sans Italics" panose="020B0503030501040103"/>
                <a:ea typeface="Canva Sans Italics" panose="020B0503030501040103"/>
                <a:cs typeface="Canva Sans Italics" panose="020B0503030501040103"/>
                <a:sym typeface="Canva Sans Italics" panose="020B0503030501040103"/>
              </a:rPr>
              <a:t>THE END</a:t>
            </a:r>
            <a:endParaRPr lang="en-US" sz="20470" i="1" u="sng">
              <a:solidFill>
                <a:srgbClr val="E0D4C3">
                  <a:alpha val="82745"/>
                </a:srgbClr>
              </a:solidFill>
              <a:latin typeface="Canva Sans Italics" panose="020B0503030501040103"/>
              <a:ea typeface="Canva Sans Italics" panose="020B0503030501040103"/>
              <a:cs typeface="Canva Sans Italics" panose="020B0503030501040103"/>
              <a:sym typeface="Canva Sans Italics" panose="020B05030305010401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4453</Words>
  <Application>WPS Presentation</Application>
  <PresentationFormat>On-screen Show (4:3)</PresentationFormat>
  <Paragraphs>129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7" baseType="lpstr">
      <vt:lpstr>Arial</vt:lpstr>
      <vt:lpstr>SimSun</vt:lpstr>
      <vt:lpstr>Wingdings</vt:lpstr>
      <vt:lpstr>Fira Sans Light Italics</vt:lpstr>
      <vt:lpstr>Helios Extended</vt:lpstr>
      <vt:lpstr>Fira Sans Bold</vt:lpstr>
      <vt:lpstr>Fira Sans Light</vt:lpstr>
      <vt:lpstr>Arial</vt:lpstr>
      <vt:lpstr>Fira Sans</vt:lpstr>
      <vt:lpstr>Gilda Display</vt:lpstr>
      <vt:lpstr>HK Grotesk Bold</vt:lpstr>
      <vt:lpstr>HK Grotesk Light</vt:lpstr>
      <vt:lpstr>Calibri</vt:lpstr>
      <vt:lpstr>BatangChe</vt:lpstr>
      <vt:lpstr>Segoe Print</vt:lpstr>
      <vt:lpstr>Microsoft YaHei</vt:lpstr>
      <vt:lpstr>Arial Unicode MS</vt:lpstr>
      <vt:lpstr>ITC Motter Corpus Semicondensed</vt:lpstr>
      <vt:lpstr>Rubik</vt:lpstr>
      <vt:lpstr>Rubik Bold</vt:lpstr>
      <vt:lpstr>HK Grotesk Bold Italics</vt:lpstr>
      <vt:lpstr>Canva Sans Italics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Mohamed Ahmed Arafa : 320 240 185 Ahmed Samir Saad : 320 240 180 Supervisors : Ahmed Anter &amp; Nada Hamdy</dc:title>
  <dc:creator/>
  <cp:lastModifiedBy>m</cp:lastModifiedBy>
  <cp:revision>2</cp:revision>
  <dcterms:created xsi:type="dcterms:W3CDTF">2006-08-16T00:00:00Z</dcterms:created>
  <dcterms:modified xsi:type="dcterms:W3CDTF">2026-03-14T15:36:51Z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1CB8A79EEFEA4E44914E7E7BC75A0DAF_12</vt:lpwstr>
  </property>
  <property fmtid="{D5CDD505-2E9C-101B-9397-08002B2CF9AE}" pid="3" name="KSOProductBuildVer">
    <vt:lpwstr>1033-12.2.0.23196</vt:lpwstr>
  </property>
</Properties>
</file>